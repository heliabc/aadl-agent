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notesSlide" Target="../notesSlides/notesSlide5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" name="Text 2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基于多Agent协作的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AADL模型自动生成系统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校内项目式实习答辩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合作单位：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中国航天科工集团706研究所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　　生：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　　业：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软件工程（大三）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/ 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答辩内容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合作背景与项目意义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问题与挑战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项目面临的核心技术难点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从原型到最终方案的演进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2971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多Agent协作架构设计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663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关键技术模块详解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个人工作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663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实习期间负责的内容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71600" y="5715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收获与展望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60350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实习总结与未来方向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项目背景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项目背景与意义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本项目是与中国航天科工集团706研究所合作的科研项目，面向航天嵌入式系统架构设计场景，旨在利用大语言模型和多Agent协作技术，实现从自然语言需求文档到AADL架构模型的自动化转换。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什么是AADL？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AADL（架构分析与设计语言）是一种面向嵌入式实时系统的标准化建模语言，广泛应用于航空航天等安全关键领域，用于描述系统的软硬件架构和功能行为。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项目意义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提高航天嵌入式系统架构设计效率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45720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降低AADL建模的技术门槛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探索小模型在专业领域的应用路径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51206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为后续模型微调提供数据基础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问题与挑战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核心问题与技术挑战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0" name="Text 8"/>
          <p:cNvSpPr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小模型能力与部署限制的矛盾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根据合作方要求模型需要本地部署，但32B以下小模型对复杂需求的理解和推理能力有限，直接生成AADL代码的质量不高，需要通过系统设计来弥补模型能力的不足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4" name="Text 12"/>
          <p:cNvSpPr/>
          <p:nvPr/>
        </p:nvSpPr>
        <p:spPr>
          <a:xfrm>
            <a:off x="653796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AADL语法规则复杂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AADL有严格的组件类型、连接规则、属性定义和扩展机制，模型直接生成容易出现大量语法错误和结构偏差，人工修正成本高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8" name="Text 16"/>
          <p:cNvSpPr/>
          <p:nvPr/>
        </p:nvSpPr>
        <p:spPr>
          <a:xfrm>
            <a:off x="868680" y="4114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缺乏从需求到AADL的实验数据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目前业界缺乏从自然语言需求到AADL模型的标准化数据集，模型训练和效果评估都缺少高质量的对照样本，需要从零开始构造和积累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/>
        </p:nvSpPr>
        <p:spPr>
          <a:xfrm>
            <a:off x="6537960" y="4114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上下文窗口限制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617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小模型上下文窗口较小，长文档需求难以一次性处理，需要合理的任务拆解和分阶段处理策略，同时要保证各部分之间的一致性</a:t>
            </a:r>
            <a:endParaRPr lang="en-US" sz="1200" dirty="0"/>
          </a:p>
        </p:txBody>
      </p:sp>
      <p:sp>
        <p:nvSpPr>
          <p:cNvPr id="24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技术路线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技术路线演进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48640" y="1828800"/>
            <a:ext cx="2651760" cy="45720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54864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第一阶段</a:t>
            </a:r>
            <a:endParaRPr lang="en-US" sz="13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68580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商用大模型原型</a:t>
            </a:r>
            <a:endParaRPr lang="en-US" sz="15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73152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测试DeepSeek、豆包等API大模型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基础对话能力强，但专业领域表现一般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无法保证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模型的准确性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，效果不达预期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24612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338328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3383280" y="1828800"/>
            <a:ext cx="2651760" cy="4572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38328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第二阶段</a:t>
            </a: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52044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切换本地部署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356616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根据合作方要求切换到Ollama本地部署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小模型直接生成效果更差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需要通过系统设计弥补能力差距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1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08076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21792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6217920" y="1828800"/>
            <a:ext cx="2651760" cy="4572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21792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第三阶段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系统设计优化</a:t>
            </a:r>
            <a:endParaRPr lang="en-US" sz="150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640080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多Agent任务拆解 + RAG知识增强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提示词优化 + 静态验证兜底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大幅提升生成准确率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1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>
            <p:custDataLst>
              <p:tags r:id="rId18"/>
            </p:custDataLst>
          </p:nvPr>
        </p:nvSpPr>
        <p:spPr>
          <a:xfrm>
            <a:off x="891540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6" name="Shape 24"/>
          <p:cNvSpPr/>
          <p:nvPr>
            <p:custDataLst>
              <p:tags r:id="rId19"/>
            </p:custDataLst>
          </p:nvPr>
        </p:nvSpPr>
        <p:spPr>
          <a:xfrm>
            <a:off x="905256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9052560" y="1828800"/>
            <a:ext cx="2651760" cy="4572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905256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第四阶段</a:t>
            </a:r>
            <a:endParaRPr lang="en-US" sz="1300" dirty="0"/>
          </a:p>
        </p:txBody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918972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持续实验优化</a:t>
            </a:r>
            <a:endParaRPr lang="en-US" sz="150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9235440" y="30175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根据实验结果调整提示词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丰富知识库内容</a:t>
            </a:r>
            <a:r>
              <a:rPr lang="zh-CN" alt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构造微调数据集，为微调做准备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关键洞察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无论是商用大模型还是本地小模型，在AADL这样的专业领域都无法直接达到理想效果。核心不在于模型大小，而在于能否通过系统设计和领域知识增强，让模型在专业任务上发挥效能。</a:t>
            </a:r>
            <a:endParaRPr lang="en-US" sz="1250" dirty="0"/>
          </a:p>
        </p:txBody>
      </p:sp>
      <p:sp>
        <p:nvSpPr>
          <p:cNvPr id="34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系统分层架构设计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55448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</p:spPr>
      </p:sp>
      <p:sp>
        <p:nvSpPr>
          <p:cNvPr id="9" name="Text 7"/>
          <p:cNvSpPr/>
          <p:nvPr/>
        </p:nvSpPr>
        <p:spPr>
          <a:xfrm>
            <a:off x="1645920" y="16002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Infrastructure 基础设施层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Qdrant向量库 · Spring Boot · POI · Lombok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212848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93C5FD"/>
          </a:solidFill>
        </p:spPr>
      </p:sp>
      <p:sp>
        <p:nvSpPr>
          <p:cNvPr id="12" name="Text 10"/>
          <p:cNvSpPr/>
          <p:nvPr/>
        </p:nvSpPr>
        <p:spPr>
          <a:xfrm>
            <a:off x="1645920" y="225856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Client 模型客户端层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2585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Ollama · OpenAI · DeepSeek · 豆包 多模型适配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871216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60A5FA"/>
          </a:solidFill>
        </p:spPr>
      </p:sp>
      <p:sp>
        <p:nvSpPr>
          <p:cNvPr id="15" name="Text 13"/>
          <p:cNvSpPr/>
          <p:nvPr/>
        </p:nvSpPr>
        <p:spPr>
          <a:xfrm>
            <a:off x="1645920" y="291693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检索增强层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91693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查询重写 · 向量搜索 · 结果融合 · 重排序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529584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3B82F6"/>
          </a:solidFill>
        </p:spPr>
      </p:sp>
      <p:sp>
        <p:nvSpPr>
          <p:cNvPr id="18" name="Text 16"/>
          <p:cNvSpPr/>
          <p:nvPr/>
        </p:nvSpPr>
        <p:spPr>
          <a:xfrm>
            <a:off x="1645920" y="357530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Service 服务层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7530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追溯服务 · 验证服务 · 转换服务 · 文档服务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4187952"/>
            <a:ext cx="9418320" cy="640080"/>
          </a:xfrm>
          <a:prstGeom prst="roundRect">
            <a:avLst>
              <a:gd name="adj" fmla="val 7143"/>
            </a:avLst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1645920" y="423367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智能体层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4233672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 · 架构生成 · 模块映射 · 代码生成 · 验证 · 修复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493776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1D4ED8"/>
          </a:solidFill>
        </p:spPr>
      </p:sp>
      <p:sp>
        <p:nvSpPr>
          <p:cNvPr id="24" name="Text 22"/>
          <p:cNvSpPr/>
          <p:nvPr/>
        </p:nvSpPr>
        <p:spPr>
          <a:xfrm>
            <a:off x="1645920" y="4983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Controller 控制层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983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0F9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API 接口 · WebSocket 流式输出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4864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架构特点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5852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分层设计，低耦合高内聚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5852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责任链模式串联Agent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管道-过滤器架构RAG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217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多模型灵活切换适配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52760" y="6499225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多Agent链式协作流程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需求文档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217627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输入：自然语言需求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1847088"/>
            <a:ext cx="3200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783080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3" name="Shape 11"/>
          <p:cNvSpPr/>
          <p:nvPr/>
        </p:nvSpPr>
        <p:spPr>
          <a:xfrm>
            <a:off x="205740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14" name="Text 12"/>
          <p:cNvSpPr/>
          <p:nvPr/>
        </p:nvSpPr>
        <p:spPr>
          <a:xfrm>
            <a:off x="205740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提取关键要素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18516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787652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8" name="Shape 16"/>
          <p:cNvSpPr/>
          <p:nvPr/>
        </p:nvSpPr>
        <p:spPr>
          <a:xfrm>
            <a:off x="384048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19" name="Text 17"/>
          <p:cNvSpPr/>
          <p:nvPr/>
        </p:nvSpPr>
        <p:spPr>
          <a:xfrm>
            <a:off x="384048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架构生成Agent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构建架构树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8516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787652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3" name="Shape 21"/>
          <p:cNvSpPr/>
          <p:nvPr/>
        </p:nvSpPr>
        <p:spPr>
          <a:xfrm>
            <a:off x="562356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24" name="Text 22"/>
          <p:cNvSpPr/>
          <p:nvPr/>
        </p:nvSpPr>
        <p:spPr>
          <a:xfrm>
            <a:off x="562356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模块映射Agent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映射组件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0" y="18516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787652"/>
            <a:ext cx="91440" cy="128016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8" name="Shape 26"/>
          <p:cNvSpPr/>
          <p:nvPr/>
        </p:nvSpPr>
        <p:spPr>
          <a:xfrm>
            <a:off x="740664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</p:spPr>
      </p:sp>
      <p:sp>
        <p:nvSpPr>
          <p:cNvPr id="29" name="Text 27"/>
          <p:cNvSpPr/>
          <p:nvPr/>
        </p:nvSpPr>
        <p:spPr>
          <a:xfrm>
            <a:off x="7406640" y="15544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代码生成Agent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19019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输出AADL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52460" y="233172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06640" y="32918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059669"/>
          </a:solidFill>
        </p:spPr>
      </p:sp>
      <p:sp>
        <p:nvSpPr>
          <p:cNvPr id="34" name="Text 32"/>
          <p:cNvSpPr/>
          <p:nvPr/>
        </p:nvSpPr>
        <p:spPr>
          <a:xfrm>
            <a:off x="7406640" y="33832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语法验证Agent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37307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检查语法错误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23560" y="32918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0891B2"/>
          </a:solidFill>
        </p:spPr>
      </p:sp>
      <p:sp>
        <p:nvSpPr>
          <p:cNvPr id="37" name="Text 35"/>
          <p:cNvSpPr/>
          <p:nvPr/>
        </p:nvSpPr>
        <p:spPr>
          <a:xfrm>
            <a:off x="5623560" y="338328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错误修复Agent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37307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FA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自动修正错误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3680460"/>
            <a:ext cx="27432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7315200" y="3616452"/>
            <a:ext cx="91440" cy="12801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1" name="Text 39"/>
          <p:cNvSpPr/>
          <p:nvPr/>
        </p:nvSpPr>
        <p:spPr>
          <a:xfrm>
            <a:off x="7223760" y="411480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有错误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77940" y="2240280"/>
            <a:ext cx="0" cy="10515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829300" y="2674620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重新验证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372600" y="3383280"/>
            <a:ext cx="1280160" cy="59436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72600" y="3383280"/>
            <a:ext cx="1280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AADL模型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189720" y="30175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输出：语法正确的AADL代码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915400" y="3680460"/>
            <a:ext cx="457200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81160" y="3616452"/>
            <a:ext cx="91440" cy="12801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49" name="Text 47"/>
          <p:cNvSpPr/>
          <p:nvPr/>
        </p:nvSpPr>
        <p:spPr>
          <a:xfrm>
            <a:off x="9006840" y="345186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853305"/>
            <a:ext cx="11247120" cy="16459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4617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流程说明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5800" y="49834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链式执行：6个Agent依次协作，前一步输出作为后一步输入，逐步完成从需求到代码的转换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5800" y="530352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验证闭环：验证不通过则进入修复Agent修正，修正后回到代码生成步骤重新验证，直至通过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85800" y="562356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职责单一：每个Agent专注一个子任务，降低单次生成复杂度，提高准确率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关键技术模块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0" name="Shape 8"/>
          <p:cNvSpPr/>
          <p:nvPr/>
        </p:nvSpPr>
        <p:spPr>
          <a:xfrm>
            <a:off x="77724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</p:spPr>
      </p:sp>
      <p:sp>
        <p:nvSpPr>
          <p:cNvPr id="11" name="Text 9"/>
          <p:cNvSpPr/>
          <p:nvPr/>
        </p:nvSpPr>
        <p:spPr>
          <a:xfrm>
            <a:off x="77724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多Agent协作架构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将复杂生成任务拆解为6个Agent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责任链模式串联执行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验证-修复闭环保证输出质量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54480"/>
            <a:ext cx="35661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6" name="Shape 14"/>
          <p:cNvSpPr/>
          <p:nvPr/>
        </p:nvSpPr>
        <p:spPr>
          <a:xfrm>
            <a:off x="457200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</p:spPr>
      </p:sp>
      <p:sp>
        <p:nvSpPr>
          <p:cNvPr id="17" name="Text 15"/>
          <p:cNvSpPr/>
          <p:nvPr/>
        </p:nvSpPr>
        <p:spPr>
          <a:xfrm>
            <a:off x="457200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实践深化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RAG检索增强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5146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查询重写→向量搜索→融合→重排序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为Agent提供AADL语法知识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管道-过滤器架构，灵活可扩展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554480"/>
            <a:ext cx="35661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2" name="Shape 20"/>
          <p:cNvSpPr/>
          <p:nvPr/>
        </p:nvSpPr>
        <p:spPr>
          <a:xfrm>
            <a:off x="836676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</p:spPr>
      </p:sp>
      <p:sp>
        <p:nvSpPr>
          <p:cNvPr id="23" name="Text 21"/>
          <p:cNvSpPr/>
          <p:nvPr/>
        </p:nvSpPr>
        <p:spPr>
          <a:xfrm>
            <a:off x="8366760" y="1783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实践深化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66760" y="21488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提示词工程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66760" y="25146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YAML配置化结构化提示词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少样本学习+红线规则+自检清单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有效降低小模型生成错误率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03120" y="3931920"/>
            <a:ext cx="3749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3931920"/>
            <a:ext cx="374904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Shape 26"/>
          <p:cNvSpPr/>
          <p:nvPr/>
        </p:nvSpPr>
        <p:spPr>
          <a:xfrm>
            <a:off x="2331720" y="416052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CFDF5"/>
          </a:solidFill>
        </p:spPr>
      </p:sp>
      <p:sp>
        <p:nvSpPr>
          <p:cNvPr id="29" name="Text 27"/>
          <p:cNvSpPr/>
          <p:nvPr/>
        </p:nvSpPr>
        <p:spPr>
          <a:xfrm>
            <a:off x="2331720" y="4160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31720" y="45262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静态验证模块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331720" y="489204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基于规则的AADL语法校验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引用完整性、类型一致性检查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属于静态验证范畴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3931920"/>
            <a:ext cx="3749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3931920"/>
            <a:ext cx="374904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4" name="Shape 32"/>
          <p:cNvSpPr/>
          <p:nvPr/>
        </p:nvSpPr>
        <p:spPr>
          <a:xfrm>
            <a:off x="6355080" y="416052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CFDF5"/>
          </a:solidFill>
        </p:spPr>
      </p:sp>
      <p:sp>
        <p:nvSpPr>
          <p:cNvPr id="35" name="Text 33"/>
          <p:cNvSpPr/>
          <p:nvPr/>
        </p:nvSpPr>
        <p:spPr>
          <a:xfrm>
            <a:off x="6355080" y="41605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45262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OSATE插件开发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5080" y="489204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基于Eclipse插件体系开发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学习OSATE扩展点机制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为可视化展示做技术储备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本地小模型为核心的技术路线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本地小模型（核心）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商用API大模型（对比）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部署方式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本地部署，符合合作方要求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云端API，需联网调用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使用成本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一次部署，长期使用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按token计费，成本持续增加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专业领域表现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需系统设计增强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通用能力强，专业领域一般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可定制性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可微调适配特定领域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通用模型，定制化程度低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长期项目、专业领域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快速原型、效果对比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核心思路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无论是大模型还是小模型，在AADL这样的专业领域都无法直接达到理想效果。关键不在于模型大小，而在于通过系统设计弥补模型能力不足，让模型在专业任务上发挥最大效能。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实习期间负责的主要工作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10" name="Text 8"/>
          <p:cNvSpPr/>
          <p:nvPr/>
        </p:nvSpPr>
        <p:spPr>
          <a:xfrm>
            <a:off x="77724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737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各Agent具体实现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1031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在已有框架基础上实现6个Agent的具体逻辑，包括需求分析、架构生成、模块映射、代码生成等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15" name="Text 13"/>
          <p:cNvSpPr/>
          <p:nvPr/>
        </p:nvSpPr>
        <p:spPr>
          <a:xfrm>
            <a:off x="644652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1737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提示词工程优化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21031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为每个Agent设计标准化YAML提示词模板，实践少样本学习、红线规则、自检清单等技术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0" name="Text 18"/>
          <p:cNvSpPr/>
          <p:nvPr/>
        </p:nvSpPr>
        <p:spPr>
          <a:xfrm>
            <a:off x="77724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337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静态验证模块开发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7033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开发AADL静态语法验证模块，实现语法错误检测、引用完整性校验、类型一致性检查等功能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35661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5" name="Text 23"/>
          <p:cNvSpPr/>
          <p:nvPr/>
        </p:nvSpPr>
        <p:spPr>
          <a:xfrm>
            <a:off x="644652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3337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微调数据集构造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37033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按指定JSON格式构造模型微调数据集，完成数据清洗、格式转换、质量校验等准备工作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1663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0" name="Text 28"/>
          <p:cNvSpPr/>
          <p:nvPr/>
        </p:nvSpPr>
        <p:spPr>
          <a:xfrm>
            <a:off x="777240" y="5166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54480" y="49377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系统集成测试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54480" y="53035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进行多Agent系统集成测试，调试各Agent间的信息传递和协作流程，修复发现的问题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51663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5" name="Text 33"/>
          <p:cNvSpPr/>
          <p:nvPr/>
        </p:nvSpPr>
        <p:spPr>
          <a:xfrm>
            <a:off x="6446520" y="5166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23760" y="49377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OSATE插件学习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223760" y="53035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学习OSATE插件开发技术，了解Eclipse插件体系和OSATE扩展点机制，为可视化做准备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遇到的困难与解决方法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0" name="Text 8"/>
          <p:cNvSpPr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问题：小模型生成的AADL语法错误多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645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645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解决：引入静态验证模块 + 错误修复Agent，形成验证闭环，自动检测并修复常见语法错误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/>
        </p:nvSpPr>
        <p:spPr>
          <a:xfrm>
            <a:off x="777240" y="2953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7889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问题：Agent间信息传递不稳定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788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788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解决：从纯文本传递改为结构化JSON传递，增加格式校验，提高信息传递的准确性和可靠性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/>
        </p:nvSpPr>
        <p:spPr>
          <a:xfrm>
            <a:off x="777240" y="4096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9319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问题：长文档需求超出上下文窗口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3931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931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解决：将需求文档拆解为多个子模块分批处理，通过全局上下文卡片和架构树统一管理各模块信息，保证整体结构一致性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239512"/>
            <a:ext cx="457200" cy="457200"/>
          </a:xfrm>
          <a:prstGeom prst="ellipse">
            <a:avLst/>
          </a:prstGeom>
          <a:solidFill>
            <a:srgbClr val="D97706"/>
          </a:solidFill>
        </p:spPr>
      </p:sp>
      <p:sp>
        <p:nvSpPr>
          <p:cNvPr id="28" name="Text 26"/>
          <p:cNvSpPr/>
          <p:nvPr/>
        </p:nvSpPr>
        <p:spPr>
          <a:xfrm>
            <a:off x="777240" y="5239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50749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问题：模型选择：效率与准确性的平衡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5074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507492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解决：通过实验对比不同参数模型在各Agent上的表现，简单任务用小模型提高效率，复杂任务用较大模型保证质量，形成混合模型调用策略</a:t>
            </a:r>
            <a:endParaRPr lang="en-US" sz="1200" dirty="0"/>
          </a:p>
        </p:txBody>
      </p:sp>
      <p:sp>
        <p:nvSpPr>
          <p:cNvPr id="32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实习收获与个人成长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🛠 技术收获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多Agent系统架构设计能力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提示词工程系统化实践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RAG检索增强全流程实践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静态验证方法的实际应用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跨领域学习能力（AADL/航天）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OSATE插件开发入门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综合成长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快速进入已有项目的能力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2560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团队协作与沟通能力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工程职业道德意识强化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科研项目规范认知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6576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自主学习与问题解决能力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023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项目管理与进度把控意识</a:t>
            </a:r>
            <a:endParaRPr lang="en-US" sz="1250" dirty="0"/>
          </a:p>
        </p:txBody>
      </p:sp>
      <p:sp>
        <p:nvSpPr>
          <p:cNvPr id="24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项目现状与未来展望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当前状态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核心功能已实现并通过初步测试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微调数据集已构造完成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模型微调工作待开展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OSATE可视化插件待开发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03520" cy="201168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🚀 未来工作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开展模型微调，提升生成质量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与合作方业务场景对接验证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开发OSATE可视化插件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支持更多AADL高级特性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👤 个人展望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继续关注项目进展，为后续完善贡献力量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深入学习大模型应用开发，掌握更多前沿技术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加强架构设计和工程实践能力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50292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拓展形式化验证等专业领域知识</a:t>
            </a:r>
            <a:endParaRPr lang="en-US" sz="1250" dirty="0"/>
          </a:p>
        </p:txBody>
      </p:sp>
      <p:sp>
        <p:nvSpPr>
          <p:cNvPr id="26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" name="Text 2"/>
          <p:cNvSpPr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敬请各位老师批评指正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基于多Agent协作的AADL模型自动生成系统</a:t>
            </a:r>
            <a:endParaRPr lang="en-US" sz="1600" dirty="0"/>
          </a:p>
        </p:txBody>
      </p:sp>
      <p:sp>
        <p:nvSpPr>
          <p:cNvPr id="8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3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4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5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6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7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8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9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0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1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2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3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4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5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6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7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8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9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0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1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2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3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3491</Words>
  <Application>WPS 演示</Application>
  <PresentationFormat>On-screen Show (16:9)</PresentationFormat>
  <Paragraphs>491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基于多Agent协作的AADL模型自动生成系统 - 实习答辩</dc:title>
  <dc:creator>实习学生</dc:creator>
  <dc:subject>实习答辩</dc:subject>
  <cp:lastModifiedBy>sjndn</cp:lastModifiedBy>
  <cp:revision>3</cp:revision>
  <dcterms:created xsi:type="dcterms:W3CDTF">2026-08-29T09:10:00Z</dcterms:created>
  <dcterms:modified xsi:type="dcterms:W3CDTF">2026-08-29T14:06:20Z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1BC74D71D9C049ADAC56AB096D9D9274_12</vt:lpwstr>
  </property>
  <property fmtid="{D5CDD505-2E9C-101B-9397-08002B2CF9AE}" pid="3" name="KSOProductBuildVer">
    <vt:lpwstr>2052-12.1.0.21915</vt:lpwstr>
  </property>
</Properties>
</file>