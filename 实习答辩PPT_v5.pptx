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BCC0C4"/>
    <a:srgbClr val="1E40AF"/>
    <a:srgbClr val="5465A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2" Type="http://schemas.openxmlformats.org/officeDocument/2006/relationships/notesSlide" Target="../notesSlides/notesSlide9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64.xml"/><Relationship Id="rId3" Type="http://schemas.openxmlformats.org/officeDocument/2006/relationships/tags" Target="../tags/tag37.xml"/><Relationship Id="rId29" Type="http://schemas.openxmlformats.org/officeDocument/2006/relationships/tags" Target="../tags/tag63.xml"/><Relationship Id="rId28" Type="http://schemas.openxmlformats.org/officeDocument/2006/relationships/tags" Target="../tags/tag62.xml"/><Relationship Id="rId27" Type="http://schemas.openxmlformats.org/officeDocument/2006/relationships/tags" Target="../tags/tag61.xml"/><Relationship Id="rId26" Type="http://schemas.openxmlformats.org/officeDocument/2006/relationships/tags" Target="../tags/tag60.xml"/><Relationship Id="rId25" Type="http://schemas.openxmlformats.org/officeDocument/2006/relationships/tags" Target="../tags/tag59.xml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94.xml"/><Relationship Id="rId3" Type="http://schemas.openxmlformats.org/officeDocument/2006/relationships/tags" Target="../tags/tag67.xml"/><Relationship Id="rId29" Type="http://schemas.openxmlformats.org/officeDocument/2006/relationships/tags" Target="../tags/tag93.xml"/><Relationship Id="rId28" Type="http://schemas.openxmlformats.org/officeDocument/2006/relationships/tags" Target="../tags/tag92.xml"/><Relationship Id="rId27" Type="http://schemas.openxmlformats.org/officeDocument/2006/relationships/tags" Target="../tags/tag91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合作单位：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　　生：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何立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　　业：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杨志斌</a:t>
            </a:r>
            <a:endParaRPr lang="zh-CN" altLang="en-US" sz="1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项目面临的核心技术难点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r>
              <a:rPr lang="zh-CN" alt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</a:t>
            </a:r>
            <a:endParaRPr lang="zh-CN" altLang="en-US" sz="18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实习总结与未来方向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本项目是与中国航天科工集团706研究所合作的科研项目，面向航天嵌入式系统架构设计场景，旨在利用大语言模型，实现从自然语言需求文档到AADL架构模型的自动化转换。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为后续模型微调提供数据基础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小模型能力与部署限制的矛盾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根据合作方要求模型需要本地部署，但32B以下小模型对复杂需求的理解和推理能力有限，直接生成AADL代码的质量不高，需要通过系统设计来弥补模型能力的不足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AADL语法规则复杂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AADL有严格的组件类型、连接规则、属性定义和扩展机制，模型直接生成容易出现大量语法错误和结构偏差，人工修正成本高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缺乏从需求到AADL的实验数据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目前业界缺乏从自然语言需求到AADL模型的标准化数据集，模型训练和效果评估都缺少高质量的对照样本，需要从零开始构造和积累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上下文窗口限制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小模型上下文窗口较小，长文档需求难以一次性处理，需要合理的任务拆解和分阶段处理策略，同时要保证各部分之间的一致性</a:t>
            </a:r>
            <a:r>
              <a:rPr lang="zh-CN" alt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</a:t>
            </a:r>
            <a:r>
              <a:rPr lang="zh-CN" alt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r>
              <a:rPr lang="zh-CN" alt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</a:t>
            </a:r>
            <a:endParaRPr lang="zh-CN" altLang="en-US" sz="1200" b="1" dirty="0">
              <a:solidFill>
                <a:srgbClr val="1D4ED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项目不同</a:t>
            </a:r>
            <a:r>
              <a:rPr lang="zh-CN" alt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</a:t>
            </a:r>
            <a:endParaRPr lang="zh-CN" altLang="en-US" sz="24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3152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测试DeepSeek、豆包等API大模型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基础对话能力强，但专业领域表现一般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，生成的</a:t>
            </a:r>
            <a:r>
              <a:rPr lang="en-US" altLang="zh-CN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模型准确性无法保障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，效果不达预期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4612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56616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根据合作方要求切换到Ollama本地部署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小模型直接生成效果更差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需要通过系统设计弥补能力差距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08076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40080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多Agent任务拆解 + RAG知识增强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提示词优化 + 静态验证+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修复兜底，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大幅提升生成准确率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91540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持续实验优化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根据实验结果调整提示词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丰富知识库内容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构造微调数据集，为微调做准备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无论是商用大模型还是本地小模型，在AADL这样的专业领域都无法直接达到理想效果。核心不在于模型大小，而在于能否通过系统设计和领域知识增强，让模型在专业任务上发挥效能。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173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E3A8A"/>
          </a:solidFill>
        </p:spPr>
      </p:sp>
      <p:sp>
        <p:nvSpPr>
          <p:cNvPr id="9" name="Text 7"/>
          <p:cNvSpPr/>
          <p:nvPr/>
        </p:nvSpPr>
        <p:spPr>
          <a:xfrm>
            <a:off x="2286000" y="1490472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接入层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490472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· WebSocket流式输出 · 鉴权 · 参数校验 · 请求路由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531620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316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12264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对外唯一入口，负责接收和分发用户请求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221992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62472" y="2221992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16" name="Shape 14"/>
          <p:cNvSpPr/>
          <p:nvPr/>
        </p:nvSpPr>
        <p:spPr>
          <a:xfrm>
            <a:off x="2011680" y="2350008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E40AF"/>
          </a:solidFill>
        </p:spPr>
      </p:sp>
      <p:sp>
        <p:nvSpPr>
          <p:cNvPr id="17" name="Text 15"/>
          <p:cNvSpPr/>
          <p:nvPr/>
        </p:nvSpPr>
        <p:spPr>
          <a:xfrm>
            <a:off x="2286000" y="2423160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应用编排层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423160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Agent智能体编排 · 责任链调度 · 业务流程编排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2464308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46430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04495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编排业务流程，串联各Agent协作，不包含具体业务逻辑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154680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2472" y="3154680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24" name="Shape 22"/>
          <p:cNvSpPr/>
          <p:nvPr/>
        </p:nvSpPr>
        <p:spPr>
          <a:xfrm>
            <a:off x="2011680" y="3282696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25" name="Text 23"/>
          <p:cNvSpPr/>
          <p:nvPr/>
        </p:nvSpPr>
        <p:spPr>
          <a:xfrm>
            <a:off x="2286000" y="3355848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领域服务层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355848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追溯服务 · 验证服务 · 转换服务 · 文档服务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3396996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396996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0" y="3977640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核心业务能力，可调用RAG和模型能力完成业务逻辑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087368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2472" y="4087368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32" name="Shape 30"/>
          <p:cNvSpPr/>
          <p:nvPr/>
        </p:nvSpPr>
        <p:spPr>
          <a:xfrm>
            <a:off x="2011680" y="4215384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3B82F6"/>
          </a:solidFill>
        </p:spPr>
      </p:sp>
      <p:sp>
        <p:nvSpPr>
          <p:cNvPr id="33" name="Text 31"/>
          <p:cNvSpPr/>
          <p:nvPr/>
        </p:nvSpPr>
        <p:spPr>
          <a:xfrm>
            <a:off x="2286000" y="4288536"/>
            <a:ext cx="438912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AI能力组件层 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288536"/>
            <a:ext cx="3200400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RAG子模块（查询重写/向量检索/融合/重排序） · 模型接入客户端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4375404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7540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86000" y="5001768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统一封装RAG和模型客户端，为上层提供AI能力支撑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5111496"/>
            <a:ext cx="0" cy="45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62472" y="5111496"/>
            <a:ext cx="128016" cy="91440"/>
          </a:xfrm>
          <a:prstGeom prst="triangle">
            <a:avLst/>
          </a:prstGeom>
          <a:solidFill>
            <a:srgbClr val="E5E7EB"/>
          </a:solidFill>
        </p:spPr>
      </p:sp>
      <p:sp>
        <p:nvSpPr>
          <p:cNvPr id="40" name="Shape 38"/>
          <p:cNvSpPr/>
          <p:nvPr/>
        </p:nvSpPr>
        <p:spPr>
          <a:xfrm>
            <a:off x="2011680" y="5239512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BEAFE"/>
          </a:solidFill>
        </p:spPr>
      </p:sp>
      <p:sp>
        <p:nvSpPr>
          <p:cNvPr id="41" name="Text 39"/>
          <p:cNvSpPr/>
          <p:nvPr/>
        </p:nvSpPr>
        <p:spPr>
          <a:xfrm>
            <a:off x="2286000" y="5312664"/>
            <a:ext cx="438912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基础设施层 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5312664"/>
            <a:ext cx="32004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Qdrant向量库 · Spring Boot · POI · Lombok · 数据库 · 缓存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5353812"/>
            <a:ext cx="5486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3538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286000" y="5934456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底层技术依赖，为上层提供数支撑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515600" y="1737360"/>
            <a:ext cx="1188720" cy="411480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0" y="1947545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流向</a:t>
            </a:r>
            <a:endParaRPr lang="zh-CN" altLang="en-US" sz="1200" b="1" dirty="0">
              <a:solidFill>
                <a:srgbClr val="1E40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1109960" y="2679065"/>
            <a:ext cx="0" cy="256032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11018520" y="5212080"/>
            <a:ext cx="182880" cy="137160"/>
          </a:xfrm>
          <a:prstGeom prst="triangle">
            <a:avLst>
              <a:gd name="adj" fmla="val 50000"/>
            </a:avLst>
          </a:prstGeom>
          <a:solidFill>
            <a:srgbClr val="1D4ED8"/>
          </a:solidFill>
        </p:spPr>
      </p:sp>
      <p:sp>
        <p:nvSpPr>
          <p:cNvPr id="52" name="Text 50"/>
          <p:cNvSpPr/>
          <p:nvPr/>
        </p:nvSpPr>
        <p:spPr>
          <a:xfrm>
            <a:off x="777240" y="58521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架构原则</a:t>
            </a:r>
            <a:endParaRPr lang="en-US" sz="1200" dirty="0"/>
          </a:p>
        </p:txBody>
      </p:sp>
      <p:sp>
        <p:nvSpPr>
          <p:cNvPr id="57" name="文本框 56"/>
          <p:cNvSpPr txBox="1"/>
          <p:nvPr/>
        </p:nvSpPr>
        <p:spPr>
          <a:xfrm>
            <a:off x="10620375" y="3154680"/>
            <a:ext cx="398145" cy="1264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marL="0" indent="0" algn="ctr">
              <a:buNone/>
            </a:pPr>
            <a:r>
              <a:rPr lang="zh-CN" alt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从顶向下</a:t>
            </a:r>
            <a:endParaRPr lang="zh-CN" altLang="en-US" sz="1400">
              <a:solidFill>
                <a:srgbClr val="E3E3E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输入：自然语言需求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847088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83080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3" name="Shape 11"/>
          <p:cNvSpPr/>
          <p:nvPr/>
        </p:nvSpPr>
        <p:spPr>
          <a:xfrm>
            <a:off x="20116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201168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提取关键要素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3520440" y="1852295"/>
            <a:ext cx="320040" cy="13335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8" name="Shape 16"/>
          <p:cNvSpPr/>
          <p:nvPr/>
        </p:nvSpPr>
        <p:spPr>
          <a:xfrm>
            <a:off x="38404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9" name="Text 17"/>
          <p:cNvSpPr/>
          <p:nvPr/>
        </p:nvSpPr>
        <p:spPr>
          <a:xfrm>
            <a:off x="384048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架构生成Agent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构建架构树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3" name="Shape 21"/>
          <p:cNvSpPr/>
          <p:nvPr/>
        </p:nvSpPr>
        <p:spPr>
          <a:xfrm>
            <a:off x="562356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562356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模块映射Agent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映射组件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8" name="Shape 26"/>
          <p:cNvSpPr/>
          <p:nvPr/>
        </p:nvSpPr>
        <p:spPr>
          <a:xfrm>
            <a:off x="740664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9" name="Text 27"/>
          <p:cNvSpPr/>
          <p:nvPr/>
        </p:nvSpPr>
        <p:spPr>
          <a:xfrm>
            <a:off x="740664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代码生成Agent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输出AADL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61020" y="2240280"/>
            <a:ext cx="0" cy="1080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59669"/>
          </a:solidFill>
        </p:spPr>
      </p:sp>
      <p:sp>
        <p:nvSpPr>
          <p:cNvPr id="34" name="Text 32"/>
          <p:cNvSpPr/>
          <p:nvPr/>
        </p:nvSpPr>
        <p:spPr>
          <a:xfrm>
            <a:off x="740664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语法验证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680587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chemeClr val="bg1"/>
                </a:solidFill>
              </a:rPr>
              <a:t>静态语义检测</a:t>
            </a:r>
            <a:r>
              <a:rPr lang="en-US" altLang="zh-CN" sz="1000" dirty="0">
                <a:solidFill>
                  <a:schemeClr val="bg1"/>
                </a:solidFill>
              </a:rPr>
              <a:t>+osate</a:t>
            </a:r>
            <a:r>
              <a:rPr lang="zh-CN" altLang="en-US" sz="1000" dirty="0">
                <a:solidFill>
                  <a:schemeClr val="bg1"/>
                </a:solidFill>
              </a:rPr>
              <a:t>检测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891B2"/>
          </a:solidFill>
        </p:spPr>
      </p:sp>
      <p:sp>
        <p:nvSpPr>
          <p:cNvPr id="37" name="Text 35"/>
          <p:cNvSpPr/>
          <p:nvPr/>
        </p:nvSpPr>
        <p:spPr>
          <a:xfrm>
            <a:off x="562356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错误修复Agent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7307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自动修正错误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680460"/>
            <a:ext cx="27432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132320" y="3616452"/>
            <a:ext cx="91440" cy="128016"/>
          </a:xfrm>
          <a:prstGeom prst="rect">
            <a:avLst/>
          </a:prstGeom>
          <a:solidFill>
            <a:srgbClr val="FF0000"/>
          </a:solidFill>
        </p:spPr>
      </p:sp>
      <p:sp>
        <p:nvSpPr>
          <p:cNvPr id="41" name="Text 39"/>
          <p:cNvSpPr/>
          <p:nvPr/>
        </p:nvSpPr>
        <p:spPr>
          <a:xfrm>
            <a:off x="7190740" y="3069590"/>
            <a:ext cx="215900" cy="611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有错误</a:t>
            </a:r>
            <a:endParaRPr 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304655" y="338328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04655" y="33832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304655" y="30632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输出：语法正确的AADL代码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915400" y="3680460"/>
            <a:ext cx="297815" cy="635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3215" y="3616452"/>
            <a:ext cx="91440" cy="1280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9" name="Text 47"/>
          <p:cNvSpPr/>
          <p:nvPr/>
        </p:nvSpPr>
        <p:spPr>
          <a:xfrm>
            <a:off x="8983980" y="34975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流程说明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链式执行：6个Agent依次协作，前一步输出作为后一步输入，逐步完成从需求到代码的转换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，每一步的输出为格式固定的</a:t>
            </a:r>
            <a:r>
              <a:rPr lang="en-US" altLang="zh-CN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文件，便于纠错和</a:t>
            </a:r>
            <a:r>
              <a:rPr lang="zh-CN" alt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验证。</a:t>
            </a:r>
            <a:endParaRPr lang="zh-CN" altLang="en-US" sz="115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5800" y="53035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验证闭环：验证不通过则进入修复Agent修正，修正后回到代码生成步骤重新验证，直至通过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5800" y="56235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职责单一：每个Agent专注一个子任务，降低单次生成复杂度，提高准确率</a:t>
            </a:r>
            <a:endParaRPr lang="en-US" sz="1150" dirty="0"/>
          </a:p>
        </p:txBody>
      </p:sp>
      <p:cxnSp>
        <p:nvCxnSpPr>
          <p:cNvPr id="59" name="直接连接符 58"/>
          <p:cNvCxnSpPr>
            <a:stCxn id="36" idx="0"/>
          </p:cNvCxnSpPr>
          <p:nvPr/>
        </p:nvCxnSpPr>
        <p:spPr>
          <a:xfrm flipV="1">
            <a:off x="6377940" y="2769870"/>
            <a:ext cx="0" cy="52197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6377940" y="2769870"/>
            <a:ext cx="1783080" cy="0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680835" y="2540000"/>
            <a:ext cx="9829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chemeClr val="accent1">
                    <a:lumMod val="75000"/>
                  </a:schemeClr>
                </a:solidFill>
              </a:rPr>
              <a:t>重新</a:t>
            </a:r>
            <a:r>
              <a:rPr lang="zh-CN" altLang="en-US" sz="900">
                <a:solidFill>
                  <a:schemeClr val="accent1">
                    <a:lumMod val="50000"/>
                  </a:schemeClr>
                </a:solidFill>
              </a:rPr>
              <a:t>验证</a:t>
            </a:r>
            <a:endParaRPr lang="zh-CN" altLang="en-US" sz="9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本地小模型（核心）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商用API大模型（对比）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部署方式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云端API，需联网调用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一次部署，长期使用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专业领域表现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需系统设计增强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通用能力强，专业领域一般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可定制性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可微调适配特定领域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长期项目、专业领域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快速原型、效果对比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无论是大模型还是小模型，在AADL这样的专业领域都无法直接达到理想效果。关键不在于模型大小，而在于通过系统设计弥补模型能力不足，让模型在专业任务上发挥最大效能。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77724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77724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将复杂生成任务拆解为6个Agent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责任链模式串联执行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验证-修复闭环保证输出质量</a:t>
            </a: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34340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457200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457200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457200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查询重写→向量搜索→融合→重排序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为Agent提供AADL语法知识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管道-过滤器架构，灵活可扩展</a:t>
            </a:r>
            <a:endParaRPr lang="en-US" sz="115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813816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36676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836676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36676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36676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YAML配置化结构化提示词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少样本学习+红线规则+自检清单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有效降低小模型生成错误率</a:t>
            </a:r>
            <a:endParaRPr lang="en-US" sz="115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210312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210312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233172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233172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233172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233172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基于规则的AADL语法校验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引用完整性、类型一致性检查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属于静态验证范畴</a:t>
            </a:r>
            <a:endParaRPr lang="en-US" sz="1150" dirty="0"/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612648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612648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635508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35508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635508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OSATE插件开发</a:t>
            </a:r>
            <a:endParaRPr lang="en-US" sz="1600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635508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基于Eclipse插件体系开发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学习OSATE扩展点机制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为可视化展示做技术储备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77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77724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155448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7223760" y="3520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7724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1554480" y="5115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>
            <p:custDataLst>
              <p:tags r:id="rId25"/>
            </p:custDataLst>
          </p:nvPr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7223760" y="5115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77240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371600" y="190182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5760720" y="1645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035040" y="1645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解决：引入静态验证模块 + 错误修复Agent，形成验证闭环，自动检测并修复常见语法错误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7724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440180" y="303593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760720" y="2788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035040" y="2788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解决：从纯文本传递改为结构化JSON传递，增加格式校验，提高信息传递的准确性和可靠性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777240" y="4096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1440180" y="41376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5760720" y="3931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035040" y="3931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解决：将需求文档拆解为多个子模块分批处理，通过全局上下文卡片和架构树统一管理各模块信息，保证整体结构一致性</a:t>
            </a:r>
            <a:endParaRPr lang="en-US" sz="120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77240" y="5239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1371600" y="533082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问题：模型选择：效率与准确性的平衡</a:t>
            </a:r>
            <a:endParaRPr lang="en-US" sz="1300" dirty="0"/>
          </a:p>
        </p:txBody>
      </p:sp>
      <p:sp>
        <p:nvSpPr>
          <p:cNvPr id="30" name="Shape 28"/>
          <p:cNvSpPr/>
          <p:nvPr>
            <p:custDataLst>
              <p:tags r:id="rId23"/>
            </p:custDataLst>
          </p:nvPr>
        </p:nvSpPr>
        <p:spPr>
          <a:xfrm>
            <a:off x="5760720" y="5074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6035040" y="5074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解决：通过实验对比不同参数模型在各Agent上的表现，简单任务用小模型提高效率，复杂任务用较大模型保证质量，形成混合模型调用策略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提示词工程系统化实践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RAG检索增强全流程实践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项目管理与进度把控意识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拓展形式化验证等专业领域知识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基于多Agent协作的AADL模型自动生成系统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2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3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4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5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6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7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8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9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0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1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2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3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4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5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6.xml><?xml version="1.0" encoding="utf-8"?>
<p:tagLst xmlns:p="http://schemas.openxmlformats.org/presentationml/2006/main">
  <p:tag name="KSO_WM_DIAGRAM_VIRTUALLY_FRAME" val="{&quot;height&quot;:338.4,&quot;left&quot;:43.2,&quot;top&quot;:122.4,&quot;width&quot;:871.2}"/>
</p:tagLst>
</file>

<file path=ppt/tags/tag17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18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19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0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1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2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3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4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5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6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7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8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29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0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1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2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3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4.xml><?xml version="1.0" encoding="utf-8"?>
<p:tagLst xmlns:p="http://schemas.openxmlformats.org/presentationml/2006/main">
  <p:tag name="KSO_WM_DIAGRAM_VIRTUALLY_FRAME" val="{&quot;height&quot;:230.4,&quot;left&quot;:43.2,&quot;top&quot;:144,&quot;width&quot;:669.6}"/>
</p:tagLst>
</file>

<file path=ppt/tags/tag3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3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4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5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6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7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8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59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0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1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2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3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4.xml><?xml version="1.0" encoding="utf-8"?>
<p:tagLst xmlns:p="http://schemas.openxmlformats.org/presentationml/2006/main">
  <p:tag name="KSO_WM_DIAGRAM_VIRTUALLY_FRAME" val="{&quot;height&quot;:352.8,&quot;left&quot;:43.2,&quot;top&quot;:122.4,&quot;width&quot;:878.4}"/>
</p:tagLst>
</file>

<file path=ppt/tags/tag6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8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9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99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0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1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2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3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4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09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0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1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2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3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4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5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6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7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ags/tag118.xml><?xml version="1.0" encoding="utf-8"?>
<p:tagLst xmlns:p="http://schemas.openxmlformats.org/presentationml/2006/main">
  <p:tag name="KSO_WM_DIAGRAM_VIRTUALLY_FRAME" val="{&quot;height&quot;:345.6,&quot;left&quot;:43.2,&quot;top&quot;:122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3507</Words>
  <Application>WPS 演示</Application>
  <PresentationFormat>On-screen Show (16:9)</PresentationFormat>
  <Paragraphs>488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creator>实习学生</dc:creator>
  <dc:subject>实习答辩</dc:subject>
  <cp:lastModifiedBy>sjndn</cp:lastModifiedBy>
  <cp:revision>4</cp:revision>
  <dcterms:created xsi:type="dcterms:W3CDTF">2026-08-29T12:57:00Z</dcterms:created>
  <dcterms:modified xsi:type="dcterms:W3CDTF">2026-08-30T05:36:34Z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4B622F14C7164B019E1E9D435C2506D6_12</vt:lpwstr>
  </property>
  <property fmtid="{D5CDD505-2E9C-101B-9397-08002B2CF9AE}" pid="3" name="KSOProductBuildVer">
    <vt:lpwstr>2052-12.1.0.21915</vt:lpwstr>
  </property>
</Properties>
</file>