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4" r:id="rId11"/>
    <p:sldId id="26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  <a:srgbClr val="BCC0C4"/>
    <a:srgbClr val="1E40AF"/>
    <a:srgbClr val="5465AF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34.xml"/><Relationship Id="rId17" Type="http://schemas.openxmlformats.org/officeDocument/2006/relationships/tags" Target="../tags/tag33.xml"/><Relationship Id="rId16" Type="http://schemas.openxmlformats.org/officeDocument/2006/relationships/tags" Target="../tags/tag32.xml"/><Relationship Id="rId15" Type="http://schemas.openxmlformats.org/officeDocument/2006/relationships/tags" Target="../tags/tag31.xml"/><Relationship Id="rId14" Type="http://schemas.openxmlformats.org/officeDocument/2006/relationships/tags" Target="../tags/tag30.xml"/><Relationship Id="rId13" Type="http://schemas.openxmlformats.org/officeDocument/2006/relationships/tags" Target="../tags/tag29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2" Type="http://schemas.openxmlformats.org/officeDocument/2006/relationships/notesSlide" Target="../notesSlides/notesSlide9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64.xml"/><Relationship Id="rId3" Type="http://schemas.openxmlformats.org/officeDocument/2006/relationships/tags" Target="../tags/tag37.xml"/><Relationship Id="rId29" Type="http://schemas.openxmlformats.org/officeDocument/2006/relationships/tags" Target="../tags/tag63.xml"/><Relationship Id="rId28" Type="http://schemas.openxmlformats.org/officeDocument/2006/relationships/tags" Target="../tags/tag62.xml"/><Relationship Id="rId27" Type="http://schemas.openxmlformats.org/officeDocument/2006/relationships/tags" Target="../tags/tag61.xml"/><Relationship Id="rId26" Type="http://schemas.openxmlformats.org/officeDocument/2006/relationships/tags" Target="../tags/tag60.xml"/><Relationship Id="rId25" Type="http://schemas.openxmlformats.org/officeDocument/2006/relationships/tags" Target="../tags/tag59.xml"/><Relationship Id="rId24" Type="http://schemas.openxmlformats.org/officeDocument/2006/relationships/tags" Target="../tags/tag58.xml"/><Relationship Id="rId23" Type="http://schemas.openxmlformats.org/officeDocument/2006/relationships/tags" Target="../tags/tag57.xml"/><Relationship Id="rId22" Type="http://schemas.openxmlformats.org/officeDocument/2006/relationships/tags" Target="../tags/tag56.xml"/><Relationship Id="rId21" Type="http://schemas.openxmlformats.org/officeDocument/2006/relationships/tags" Target="../tags/tag55.xml"/><Relationship Id="rId20" Type="http://schemas.openxmlformats.org/officeDocument/2006/relationships/tags" Target="../tags/tag54.xml"/><Relationship Id="rId2" Type="http://schemas.openxmlformats.org/officeDocument/2006/relationships/tags" Target="../tags/tag36.xml"/><Relationship Id="rId19" Type="http://schemas.openxmlformats.org/officeDocument/2006/relationships/tags" Target="../tags/tag53.xml"/><Relationship Id="rId18" Type="http://schemas.openxmlformats.org/officeDocument/2006/relationships/tags" Target="../tags/tag52.xml"/><Relationship Id="rId17" Type="http://schemas.openxmlformats.org/officeDocument/2006/relationships/tags" Target="../tags/tag51.xml"/><Relationship Id="rId16" Type="http://schemas.openxmlformats.org/officeDocument/2006/relationships/tags" Target="../tags/tag50.xml"/><Relationship Id="rId15" Type="http://schemas.openxmlformats.org/officeDocument/2006/relationships/tags" Target="../tags/tag49.xml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openxmlformats.org/officeDocument/2006/relationships/tags" Target="../tags/tag72.xml"/><Relationship Id="rId7" Type="http://schemas.openxmlformats.org/officeDocument/2006/relationships/tags" Target="../tags/tag71.xml"/><Relationship Id="rId6" Type="http://schemas.openxmlformats.org/officeDocument/2006/relationships/tags" Target="../tags/tag70.xml"/><Relationship Id="rId5" Type="http://schemas.openxmlformats.org/officeDocument/2006/relationships/tags" Target="../tags/tag69.xml"/><Relationship Id="rId4" Type="http://schemas.openxmlformats.org/officeDocument/2006/relationships/tags" Target="../tags/tag68.xml"/><Relationship Id="rId32" Type="http://schemas.openxmlformats.org/officeDocument/2006/relationships/notesSlide" Target="../notesSlides/notesSlide10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94.xml"/><Relationship Id="rId3" Type="http://schemas.openxmlformats.org/officeDocument/2006/relationships/tags" Target="../tags/tag67.xml"/><Relationship Id="rId29" Type="http://schemas.openxmlformats.org/officeDocument/2006/relationships/tags" Target="../tags/tag93.xml"/><Relationship Id="rId28" Type="http://schemas.openxmlformats.org/officeDocument/2006/relationships/tags" Target="../tags/tag92.xml"/><Relationship Id="rId27" Type="http://schemas.openxmlformats.org/officeDocument/2006/relationships/tags" Target="../tags/tag91.xml"/><Relationship Id="rId26" Type="http://schemas.openxmlformats.org/officeDocument/2006/relationships/tags" Target="../tags/tag90.xml"/><Relationship Id="rId25" Type="http://schemas.openxmlformats.org/officeDocument/2006/relationships/tags" Target="../tags/tag89.xml"/><Relationship Id="rId24" Type="http://schemas.openxmlformats.org/officeDocument/2006/relationships/tags" Target="../tags/tag88.xml"/><Relationship Id="rId23" Type="http://schemas.openxmlformats.org/officeDocument/2006/relationships/tags" Target="../tags/tag87.xml"/><Relationship Id="rId22" Type="http://schemas.openxmlformats.org/officeDocument/2006/relationships/tags" Target="../tags/tag86.xml"/><Relationship Id="rId21" Type="http://schemas.openxmlformats.org/officeDocument/2006/relationships/tags" Target="../tags/tag85.xml"/><Relationship Id="rId20" Type="http://schemas.openxmlformats.org/officeDocument/2006/relationships/tags" Target="../tags/tag84.xml"/><Relationship Id="rId2" Type="http://schemas.openxmlformats.org/officeDocument/2006/relationships/tags" Target="../tags/tag66.xml"/><Relationship Id="rId19" Type="http://schemas.openxmlformats.org/officeDocument/2006/relationships/tags" Target="../tags/tag83.xml"/><Relationship Id="rId18" Type="http://schemas.openxmlformats.org/officeDocument/2006/relationships/tags" Target="../tags/tag82.xml"/><Relationship Id="rId17" Type="http://schemas.openxmlformats.org/officeDocument/2006/relationships/tags" Target="../tags/tag81.xml"/><Relationship Id="rId16" Type="http://schemas.openxmlformats.org/officeDocument/2006/relationships/tags" Target="../tags/tag80.xml"/><Relationship Id="rId15" Type="http://schemas.openxmlformats.org/officeDocument/2006/relationships/tags" Target="../tags/tag79.xml"/><Relationship Id="rId14" Type="http://schemas.openxmlformats.org/officeDocument/2006/relationships/tags" Target="../tags/tag78.xml"/><Relationship Id="rId13" Type="http://schemas.openxmlformats.org/officeDocument/2006/relationships/tags" Target="../tags/tag77.xml"/><Relationship Id="rId12" Type="http://schemas.openxmlformats.org/officeDocument/2006/relationships/tags" Target="../tags/tag76.xml"/><Relationship Id="rId11" Type="http://schemas.openxmlformats.org/officeDocument/2006/relationships/tags" Target="../tags/tag75.xml"/><Relationship Id="rId10" Type="http://schemas.openxmlformats.org/officeDocument/2006/relationships/tags" Target="../tags/tag74.xml"/><Relationship Id="rId1" Type="http://schemas.openxmlformats.org/officeDocument/2006/relationships/tags" Target="../tags/tag6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tags" Target="../tags/tag100.xml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18.xml"/><Relationship Id="rId23" Type="http://schemas.openxmlformats.org/officeDocument/2006/relationships/tags" Target="../tags/tag117.xml"/><Relationship Id="rId22" Type="http://schemas.openxmlformats.org/officeDocument/2006/relationships/tags" Target="../tags/tag116.xml"/><Relationship Id="rId21" Type="http://schemas.openxmlformats.org/officeDocument/2006/relationships/tags" Target="../tags/tag115.xml"/><Relationship Id="rId20" Type="http://schemas.openxmlformats.org/officeDocument/2006/relationships/tags" Target="../tags/tag114.xml"/><Relationship Id="rId2" Type="http://schemas.openxmlformats.org/officeDocument/2006/relationships/tags" Target="../tags/tag96.xml"/><Relationship Id="rId19" Type="http://schemas.openxmlformats.org/officeDocument/2006/relationships/tags" Target="../tags/tag113.xml"/><Relationship Id="rId18" Type="http://schemas.openxmlformats.org/officeDocument/2006/relationships/tags" Target="../tags/tag112.xml"/><Relationship Id="rId17" Type="http://schemas.openxmlformats.org/officeDocument/2006/relationships/tags" Target="../tags/tag111.xml"/><Relationship Id="rId16" Type="http://schemas.openxmlformats.org/officeDocument/2006/relationships/tags" Target="../tags/tag110.xml"/><Relationship Id="rId15" Type="http://schemas.openxmlformats.org/officeDocument/2006/relationships/tags" Target="../tags/tag109.xml"/><Relationship Id="rId14" Type="http://schemas.openxmlformats.org/officeDocument/2006/relationships/tags" Target="../tags/tag108.xml"/><Relationship Id="rId13" Type="http://schemas.openxmlformats.org/officeDocument/2006/relationships/tags" Target="../tags/tag107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4" name="Text 2"/>
          <p:cNvSpPr/>
          <p:nvPr/>
        </p:nvSpPr>
        <p:spPr>
          <a:xfrm>
            <a:off x="914400" y="1828800"/>
            <a:ext cx="91440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基于多Agent协作的</a:t>
            </a:r>
            <a:endParaRPr lang="en-US" sz="3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AADL模型自动生成系统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校内项目式实习答辩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8288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合作单位：</a:t>
            </a:r>
            <a:r>
              <a:rPr lang="en-US" sz="1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中国航天科工集团706研究所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　　生：</a:t>
            </a:r>
            <a:r>
              <a:rPr lang="zh-CN" alt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何立</a:t>
            </a:r>
            <a:endParaRPr lang="zh-CN" altLang="en-US" sz="1400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　　业：</a:t>
            </a:r>
            <a:r>
              <a:rPr lang="en-US" sz="1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指导教师：</a:t>
            </a:r>
            <a:r>
              <a:rPr lang="zh-CN" altLang="en-US" sz="1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杨志斌</a:t>
            </a:r>
            <a:endParaRPr lang="zh-CN" altLang="en-US" sz="1400" b="1" dirty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 / CONTENTS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答辩内容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920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合作背景与项目意义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5544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04088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问题与挑战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20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项目面临的核心技术难点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推进</a:t>
            </a:r>
            <a:endParaRPr lang="zh-CN" altLang="en-US" sz="1800" b="1" dirty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71600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从原型到最终方案的演进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9260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040880" y="29718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系统架构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0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多Agent协作架构设计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371600" y="43434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核心技术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6634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关键技术模块详解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42976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040880" y="43434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个人工作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46634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实习期间负责的内容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收获与展望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1600" y="60350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实习总结与未来方向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653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 / 项目背景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项目背景与意义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54480"/>
            <a:ext cx="5303520" cy="219456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合作背景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10312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本项目是与中国航天科工集团706研究所合作的科研项目，面向航天嵌入式系统架构设计场景，旨在利用大语言模型，实现从自然语言需求文档到AADL架构模型的自动化转换。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554480"/>
            <a:ext cx="5303520" cy="219456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什么是AADL？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10312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AADL（架构分析与设计语言）是一种面向嵌入式实时系统的标准化建模语言，广泛应用于航空航天等安全关键领域，用于描述系统的软硬件架构和功能行为。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605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项目意义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5303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提高航天嵌入式系统架构设计效率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4572000"/>
            <a:ext cx="5303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降低AADL建模的技术门槛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5120640"/>
            <a:ext cx="5303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探索小模型在专业领域的应用路径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5120640"/>
            <a:ext cx="5303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为后续模型微调提供数据基础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117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/ 问题与挑战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核心问题与技术挑战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5394960" cy="20116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548640" y="1554480"/>
            <a:ext cx="73152" cy="20116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868680" y="182880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⚠  小模型能力与部署限制的矛盾</a:t>
            </a:r>
            <a:endParaRPr lang="en-US" sz="1500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8680" y="233172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根据合作方要求模型需要本地部署，但32B以下小模型对复杂需求的理解和推理能力有限，直接生成AADL代码的质量不高，需要通过系统设计来弥补模型能力的不足</a:t>
            </a:r>
            <a:r>
              <a:rPr lang="zh-CN" alt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6217920" y="1554480"/>
            <a:ext cx="5394960" cy="20116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>
            <p:custDataLst>
              <p:tags r:id="rId6"/>
            </p:custDataLst>
          </p:nvPr>
        </p:nvSpPr>
        <p:spPr>
          <a:xfrm>
            <a:off x="6217920" y="1554480"/>
            <a:ext cx="73152" cy="20116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6537960" y="182880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⚠  AADL语法规则复杂</a:t>
            </a:r>
            <a:endParaRPr lang="en-US" sz="1500" dirty="0"/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537960" y="233172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AADL有严格的组件类型、连接规则、属性定义和扩展机制，模型直接生成容易出现大量语法错误和结构偏差，人工修正成本高</a:t>
            </a:r>
            <a:r>
              <a:rPr lang="zh-CN" alt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9"/>
            </p:custDataLst>
          </p:nvPr>
        </p:nvSpPr>
        <p:spPr>
          <a:xfrm>
            <a:off x="548640" y="3840480"/>
            <a:ext cx="5394960" cy="20116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>
            <p:custDataLst>
              <p:tags r:id="rId10"/>
            </p:custDataLst>
          </p:nvPr>
        </p:nvSpPr>
        <p:spPr>
          <a:xfrm>
            <a:off x="548640" y="3840480"/>
            <a:ext cx="73152" cy="20116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868680" y="411480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⚠  缺乏从需求到AADL的实验数据</a:t>
            </a:r>
            <a:endParaRPr lang="en-US" sz="1500" dirty="0"/>
          </a:p>
        </p:txBody>
      </p:sp>
      <p:sp>
        <p:nvSpPr>
          <p:cNvPr id="19" name="Text 17"/>
          <p:cNvSpPr/>
          <p:nvPr>
            <p:custDataLst>
              <p:tags r:id="rId12"/>
            </p:custDataLst>
          </p:nvPr>
        </p:nvSpPr>
        <p:spPr>
          <a:xfrm>
            <a:off x="868680" y="461772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目前业界缺乏从自然语言需求到AADL模型的标准化数据集，模型训练和效果评估都缺少高质量的对照样本，需要从零开始构造和积累</a:t>
            </a:r>
            <a:r>
              <a:rPr lang="zh-CN" alt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6217920" y="3840480"/>
            <a:ext cx="5394960" cy="20116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6217920" y="3840480"/>
            <a:ext cx="73152" cy="20116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6537960" y="411480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⚠  上下文窗口限制</a:t>
            </a:r>
            <a:endParaRPr lang="en-US" sz="1500" dirty="0"/>
          </a:p>
        </p:txBody>
      </p:sp>
      <p:sp>
        <p:nvSpPr>
          <p:cNvPr id="23" name="Text 21"/>
          <p:cNvSpPr/>
          <p:nvPr>
            <p:custDataLst>
              <p:tags r:id="rId16"/>
            </p:custDataLst>
          </p:nvPr>
        </p:nvSpPr>
        <p:spPr>
          <a:xfrm>
            <a:off x="6537960" y="461772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小模型上下文窗口较小，长文档需求难以一次性处理，需要合理的任务拆解和分阶段处理策略，同时要保证各部分之间的一致性</a:t>
            </a:r>
            <a:r>
              <a:rPr lang="zh-CN" altLang="en-US" sz="12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2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/ </a:t>
            </a:r>
            <a:r>
              <a:rPr lang="zh-CN" alt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r>
              <a:rPr lang="zh-CN" alt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推进</a:t>
            </a:r>
            <a:endParaRPr lang="zh-CN" altLang="en-US" sz="1200" b="1" dirty="0">
              <a:solidFill>
                <a:srgbClr val="1D4ED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项目不同</a:t>
            </a:r>
            <a:r>
              <a:rPr lang="zh-CN" alt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  <a:endParaRPr lang="zh-CN" altLang="en-US" sz="2400" b="1" dirty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48640" y="182880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548640" y="1828800"/>
            <a:ext cx="2651760" cy="457200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548640" y="19019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第一阶段</a:t>
            </a:r>
            <a:endParaRPr lang="en-US" sz="1300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685800" y="24688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商用大模型原型</a:t>
            </a:r>
            <a:endParaRPr lang="en-US" sz="1500" dirty="0"/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731520" y="301752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测试DeepSeek、豆包等API大模型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基础对话能力强，但专业领域表现一般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，生成的</a:t>
            </a:r>
            <a:r>
              <a:rPr lang="en-US" altLang="zh-CN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AADL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模型准确性无法保障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，效果不达预期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1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3" name="Shape 11"/>
          <p:cNvSpPr/>
          <p:nvPr>
            <p:custDataLst>
              <p:tags r:id="rId6"/>
            </p:custDataLst>
          </p:nvPr>
        </p:nvSpPr>
        <p:spPr>
          <a:xfrm>
            <a:off x="3246120" y="3154680"/>
            <a:ext cx="137160" cy="27432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3383280" y="182880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3383280" y="1828800"/>
            <a:ext cx="2651760" cy="4572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383280" y="19019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第二阶段</a:t>
            </a:r>
            <a:endParaRPr lang="en-US" sz="1300" dirty="0"/>
          </a:p>
        </p:txBody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3520440" y="24688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切换本地部署</a:t>
            </a:r>
            <a:endParaRPr lang="en-US" sz="1500" dirty="0"/>
          </a:p>
        </p:txBody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3566160" y="301752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根据合作方要求切换到Ollama本地部署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小模型直接生成效果更差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需要通过系统设计弥补能力差距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1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9" name="Shape 17"/>
          <p:cNvSpPr/>
          <p:nvPr>
            <p:custDataLst>
              <p:tags r:id="rId12"/>
            </p:custDataLst>
          </p:nvPr>
        </p:nvSpPr>
        <p:spPr>
          <a:xfrm>
            <a:off x="6080760" y="3154680"/>
            <a:ext cx="137160" cy="27432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6217920" y="182880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6217920" y="1828800"/>
            <a:ext cx="2651760" cy="457200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6217920" y="19019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第三阶段</a:t>
            </a:r>
            <a:endParaRPr lang="en-US" sz="1300" dirty="0"/>
          </a:p>
        </p:txBody>
      </p:sp>
      <p:sp>
        <p:nvSpPr>
          <p:cNvPr id="23" name="Text 21"/>
          <p:cNvSpPr/>
          <p:nvPr>
            <p:custDataLst>
              <p:tags r:id="rId16"/>
            </p:custDataLst>
          </p:nvPr>
        </p:nvSpPr>
        <p:spPr>
          <a:xfrm>
            <a:off x="6355080" y="24688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系统设计优化</a:t>
            </a:r>
            <a:endParaRPr lang="en-US" sz="1500" dirty="0"/>
          </a:p>
        </p:txBody>
      </p:sp>
      <p:sp>
        <p:nvSpPr>
          <p:cNvPr id="24" name="Text 22"/>
          <p:cNvSpPr/>
          <p:nvPr>
            <p:custDataLst>
              <p:tags r:id="rId17"/>
            </p:custDataLst>
          </p:nvPr>
        </p:nvSpPr>
        <p:spPr>
          <a:xfrm>
            <a:off x="6400800" y="301752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多Agent任务拆解 + RAG知识增强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+ 提示词优化 + 静态验证+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修复兜底，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大幅提升生成准确率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1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5" name="Shape 23"/>
          <p:cNvSpPr/>
          <p:nvPr>
            <p:custDataLst>
              <p:tags r:id="rId18"/>
            </p:custDataLst>
          </p:nvPr>
        </p:nvSpPr>
        <p:spPr>
          <a:xfrm>
            <a:off x="8915400" y="3154680"/>
            <a:ext cx="137160" cy="27432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6" name="Shape 24"/>
          <p:cNvSpPr/>
          <p:nvPr/>
        </p:nvSpPr>
        <p:spPr>
          <a:xfrm>
            <a:off x="9052560" y="182880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828800"/>
            <a:ext cx="2651760" cy="4572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8" name="Text 26"/>
          <p:cNvSpPr/>
          <p:nvPr/>
        </p:nvSpPr>
        <p:spPr>
          <a:xfrm>
            <a:off x="9052560" y="19019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第四阶段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89720" y="24688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持续实验优化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35440" y="301752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根据实验结果调整提示词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丰富知识库内容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构造微调数据集，为微调做准备</a:t>
            </a:r>
            <a:r>
              <a:rPr lang="zh-CN" alt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altLang="en-US" sz="1100" dirty="0">
              <a:solidFill>
                <a:srgbClr val="6B728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2578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关键洞察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无论是商用大模型还是本地小模型，在AADL这样的专业领域都无法直接达到理想效果。核心不在于模型大小，而在于能否通过系统设计和领域知识增强，让模型在专业任务上发挥效能。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800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/ 系统架构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系统分层架构设计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417320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1E3A8A"/>
          </a:solidFill>
        </p:spPr>
      </p:sp>
      <p:sp>
        <p:nvSpPr>
          <p:cNvPr id="9" name="Text 7"/>
          <p:cNvSpPr/>
          <p:nvPr/>
        </p:nvSpPr>
        <p:spPr>
          <a:xfrm>
            <a:off x="2286000" y="1490472"/>
            <a:ext cx="438912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接入层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490472"/>
            <a:ext cx="320040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REST API · WebSocket流式输出 · 鉴权 · 参数校验 · 请求路由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1531620"/>
            <a:ext cx="54864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5316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0" y="2112264"/>
            <a:ext cx="77724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对外唯一入口，负责接收和分发用户请求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2221992"/>
            <a:ext cx="0" cy="45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62472" y="2221992"/>
            <a:ext cx="128016" cy="91440"/>
          </a:xfrm>
          <a:prstGeom prst="triangle">
            <a:avLst/>
          </a:prstGeom>
          <a:solidFill>
            <a:srgbClr val="E5E7EB"/>
          </a:solidFill>
        </p:spPr>
      </p:sp>
      <p:sp>
        <p:nvSpPr>
          <p:cNvPr id="16" name="Shape 14"/>
          <p:cNvSpPr/>
          <p:nvPr/>
        </p:nvSpPr>
        <p:spPr>
          <a:xfrm>
            <a:off x="2011680" y="2350008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1E40AF"/>
          </a:solidFill>
        </p:spPr>
      </p:sp>
      <p:sp>
        <p:nvSpPr>
          <p:cNvPr id="17" name="Text 15"/>
          <p:cNvSpPr/>
          <p:nvPr/>
        </p:nvSpPr>
        <p:spPr>
          <a:xfrm>
            <a:off x="2286000" y="2423160"/>
            <a:ext cx="438912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应用编排层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2423160"/>
            <a:ext cx="320040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Agent智能体编排 · 责任链调度 · 业务流程编排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2464308"/>
            <a:ext cx="54864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46430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044952"/>
            <a:ext cx="77724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编排业务流程，串联各Agent协作，不包含具体业务逻辑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3154680"/>
            <a:ext cx="0" cy="45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62472" y="3154680"/>
            <a:ext cx="128016" cy="91440"/>
          </a:xfrm>
          <a:prstGeom prst="triangle">
            <a:avLst/>
          </a:prstGeom>
          <a:solidFill>
            <a:srgbClr val="E5E7EB"/>
          </a:solidFill>
        </p:spPr>
      </p:sp>
      <p:sp>
        <p:nvSpPr>
          <p:cNvPr id="24" name="Shape 22"/>
          <p:cNvSpPr/>
          <p:nvPr/>
        </p:nvSpPr>
        <p:spPr>
          <a:xfrm>
            <a:off x="2011680" y="3282696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1D4ED8"/>
          </a:solidFill>
        </p:spPr>
      </p:sp>
      <p:sp>
        <p:nvSpPr>
          <p:cNvPr id="25" name="Text 23"/>
          <p:cNvSpPr/>
          <p:nvPr/>
        </p:nvSpPr>
        <p:spPr>
          <a:xfrm>
            <a:off x="2286000" y="3355848"/>
            <a:ext cx="438912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领域服务层 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355848"/>
            <a:ext cx="320040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追溯服务 · 验证服务 · 转换服务 · 文档服务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3396996"/>
            <a:ext cx="54864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396996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286000" y="3977640"/>
            <a:ext cx="77724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核心业务能力，可调用RAG和模型能力完成业务逻辑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087368"/>
            <a:ext cx="0" cy="45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62472" y="4087368"/>
            <a:ext cx="128016" cy="91440"/>
          </a:xfrm>
          <a:prstGeom prst="triangle">
            <a:avLst/>
          </a:prstGeom>
          <a:solidFill>
            <a:srgbClr val="E5E7EB"/>
          </a:solidFill>
        </p:spPr>
      </p:sp>
      <p:sp>
        <p:nvSpPr>
          <p:cNvPr id="32" name="Shape 30"/>
          <p:cNvSpPr/>
          <p:nvPr/>
        </p:nvSpPr>
        <p:spPr>
          <a:xfrm>
            <a:off x="2011680" y="4215384"/>
            <a:ext cx="8229600" cy="777240"/>
          </a:xfrm>
          <a:prstGeom prst="roundRect">
            <a:avLst>
              <a:gd name="adj" fmla="val 5882"/>
            </a:avLst>
          </a:prstGeom>
          <a:solidFill>
            <a:srgbClr val="3B82F6"/>
          </a:solidFill>
        </p:spPr>
      </p:sp>
      <p:sp>
        <p:nvSpPr>
          <p:cNvPr id="33" name="Text 31"/>
          <p:cNvSpPr/>
          <p:nvPr/>
        </p:nvSpPr>
        <p:spPr>
          <a:xfrm>
            <a:off x="2286000" y="4288536"/>
            <a:ext cx="438912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AI能力组件层 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4288536"/>
            <a:ext cx="320040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RAG子模块</a:t>
            </a: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· </a:t>
            </a:r>
            <a:r>
              <a:rPr lang="zh-CN" alt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提示词工程</a:t>
            </a:r>
            <a:r>
              <a:rPr lang="en-US" sz="11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· 模型接入客户端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" y="4375404"/>
            <a:ext cx="54864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375404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286000" y="5001768"/>
            <a:ext cx="77724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统一封装RAG和模型客户端，为上层提供AI能力支撑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5111496"/>
            <a:ext cx="0" cy="45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62472" y="5111496"/>
            <a:ext cx="128016" cy="91440"/>
          </a:xfrm>
          <a:prstGeom prst="triangle">
            <a:avLst/>
          </a:prstGeom>
          <a:solidFill>
            <a:srgbClr val="E5E7EB"/>
          </a:solidFill>
        </p:spPr>
      </p:sp>
      <p:sp>
        <p:nvSpPr>
          <p:cNvPr id="40" name="Shape 38"/>
          <p:cNvSpPr/>
          <p:nvPr/>
        </p:nvSpPr>
        <p:spPr>
          <a:xfrm>
            <a:off x="2011680" y="5239512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DBEAFE"/>
          </a:solidFill>
        </p:spPr>
      </p:sp>
      <p:sp>
        <p:nvSpPr>
          <p:cNvPr id="41" name="Text 39"/>
          <p:cNvSpPr/>
          <p:nvPr/>
        </p:nvSpPr>
        <p:spPr>
          <a:xfrm>
            <a:off x="2286000" y="5312664"/>
            <a:ext cx="438912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基础设施层 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58000" y="5312664"/>
            <a:ext cx="3200400" cy="5394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Qdrant向量库 · Spring Boot · POI · Lombok · 数据库 · 缓存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2960" y="5353812"/>
            <a:ext cx="54864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BEA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2960" y="535381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BE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286000" y="5934456"/>
            <a:ext cx="77724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底层技术依赖，为上层提供数支撑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515600" y="1737360"/>
            <a:ext cx="1188720" cy="4114800"/>
          </a:xfrm>
          <a:prstGeom prst="rect">
            <a:avLst/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15600" y="1947545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流向</a:t>
            </a:r>
            <a:endParaRPr lang="zh-CN" altLang="en-US" sz="1200" b="1" dirty="0">
              <a:solidFill>
                <a:srgbClr val="1E40A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11109960" y="2679065"/>
            <a:ext cx="0" cy="256032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0800000">
            <a:off x="11018520" y="5212080"/>
            <a:ext cx="182880" cy="137160"/>
          </a:xfrm>
          <a:prstGeom prst="triangle">
            <a:avLst>
              <a:gd name="adj" fmla="val 50000"/>
            </a:avLst>
          </a:prstGeom>
          <a:solidFill>
            <a:srgbClr val="1D4ED8"/>
          </a:solidFill>
        </p:spPr>
      </p:sp>
      <p:sp>
        <p:nvSpPr>
          <p:cNvPr id="52" name="Text 50"/>
          <p:cNvSpPr/>
          <p:nvPr/>
        </p:nvSpPr>
        <p:spPr>
          <a:xfrm>
            <a:off x="777240" y="58521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架构原则</a:t>
            </a:r>
            <a:endParaRPr lang="en-US" sz="1200" dirty="0"/>
          </a:p>
        </p:txBody>
      </p:sp>
      <p:sp>
        <p:nvSpPr>
          <p:cNvPr id="57" name="文本框 56"/>
          <p:cNvSpPr txBox="1"/>
          <p:nvPr/>
        </p:nvSpPr>
        <p:spPr>
          <a:xfrm>
            <a:off x="10620375" y="3154680"/>
            <a:ext cx="398145" cy="12649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p>
            <a:pPr marL="0" indent="0" algn="ctr">
              <a:buNone/>
            </a:pPr>
            <a:r>
              <a:rPr lang="zh-CN" altLang="en-US" sz="14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从顶向下</a:t>
            </a:r>
            <a:endParaRPr lang="zh-CN" altLang="en-US" sz="1400">
              <a:solidFill>
                <a:srgbClr val="E3E3E3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/ 系统架构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多Agent链式协作流程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554480"/>
            <a:ext cx="118872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55448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需求文档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4320" y="217627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输入：自然语言需求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45920" y="1847088"/>
            <a:ext cx="32004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1783080"/>
            <a:ext cx="91440" cy="128016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13" name="Shape 11"/>
          <p:cNvSpPr/>
          <p:nvPr/>
        </p:nvSpPr>
        <p:spPr>
          <a:xfrm>
            <a:off x="2011680" y="14630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1D4ED8"/>
          </a:solidFill>
        </p:spPr>
      </p:sp>
      <p:sp>
        <p:nvSpPr>
          <p:cNvPr id="14" name="Text 12"/>
          <p:cNvSpPr/>
          <p:nvPr/>
        </p:nvSpPr>
        <p:spPr>
          <a:xfrm>
            <a:off x="2011680" y="15544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1901952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提取关键要素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V="1">
            <a:off x="3520440" y="1852295"/>
            <a:ext cx="320040" cy="133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49040" y="1787652"/>
            <a:ext cx="91440" cy="128016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18" name="Shape 16"/>
          <p:cNvSpPr/>
          <p:nvPr/>
        </p:nvSpPr>
        <p:spPr>
          <a:xfrm>
            <a:off x="3840480" y="14630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1D4ED8"/>
          </a:solidFill>
        </p:spPr>
      </p:sp>
      <p:sp>
        <p:nvSpPr>
          <p:cNvPr id="19" name="Text 17"/>
          <p:cNvSpPr/>
          <p:nvPr/>
        </p:nvSpPr>
        <p:spPr>
          <a:xfrm>
            <a:off x="3840480" y="15544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架构生成Agent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1901952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构建架构树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49240" y="1851660"/>
            <a:ext cx="2743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32120" y="1787652"/>
            <a:ext cx="91440" cy="128016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23" name="Shape 21"/>
          <p:cNvSpPr/>
          <p:nvPr/>
        </p:nvSpPr>
        <p:spPr>
          <a:xfrm>
            <a:off x="5623560" y="14630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1D4ED8"/>
          </a:solidFill>
        </p:spPr>
      </p:sp>
      <p:sp>
        <p:nvSpPr>
          <p:cNvPr id="24" name="Text 22"/>
          <p:cNvSpPr/>
          <p:nvPr/>
        </p:nvSpPr>
        <p:spPr>
          <a:xfrm>
            <a:off x="5623560" y="15544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模块映射Agent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23560" y="1901952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映射组件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32320" y="1851660"/>
            <a:ext cx="2743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0" y="1787652"/>
            <a:ext cx="91440" cy="128016"/>
          </a:xfrm>
          <a:prstGeom prst="rect">
            <a:avLst/>
          </a:prstGeom>
          <a:solidFill>
            <a:srgbClr val="6B7280"/>
          </a:solidFill>
        </p:spPr>
      </p:sp>
      <p:sp>
        <p:nvSpPr>
          <p:cNvPr id="28" name="Shape 26"/>
          <p:cNvSpPr/>
          <p:nvPr/>
        </p:nvSpPr>
        <p:spPr>
          <a:xfrm>
            <a:off x="7406640" y="14630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1D4ED8"/>
          </a:solidFill>
        </p:spPr>
      </p:sp>
      <p:sp>
        <p:nvSpPr>
          <p:cNvPr id="29" name="Text 27"/>
          <p:cNvSpPr/>
          <p:nvPr/>
        </p:nvSpPr>
        <p:spPr>
          <a:xfrm>
            <a:off x="7406640" y="15544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代码生成Agent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06640" y="1901952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输出AADL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61020" y="2240280"/>
            <a:ext cx="0" cy="108000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32918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059669"/>
          </a:solidFill>
        </p:spPr>
      </p:sp>
      <p:sp>
        <p:nvSpPr>
          <p:cNvPr id="34" name="Text 32"/>
          <p:cNvSpPr/>
          <p:nvPr/>
        </p:nvSpPr>
        <p:spPr>
          <a:xfrm>
            <a:off x="7406640" y="3383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语法验证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06640" y="3680587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000" dirty="0">
                <a:solidFill>
                  <a:schemeClr val="bg1"/>
                </a:solidFill>
              </a:rPr>
              <a:t>静态语义检测</a:t>
            </a:r>
            <a:r>
              <a:rPr lang="en-US" altLang="zh-CN" sz="1000" dirty="0">
                <a:solidFill>
                  <a:schemeClr val="bg1"/>
                </a:solidFill>
              </a:rPr>
              <a:t>+osate</a:t>
            </a:r>
            <a:r>
              <a:rPr lang="zh-CN" altLang="en-US" sz="1000" dirty="0">
                <a:solidFill>
                  <a:schemeClr val="bg1"/>
                </a:solidFill>
              </a:rPr>
              <a:t>检测</a:t>
            </a:r>
            <a:endParaRPr lang="zh-CN" altLang="en-US" sz="1000" dirty="0">
              <a:solidFill>
                <a:schemeClr val="bg1"/>
              </a:solidFill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623560" y="3291840"/>
            <a:ext cx="1508760" cy="777240"/>
          </a:xfrm>
          <a:prstGeom prst="roundRect">
            <a:avLst>
              <a:gd name="adj" fmla="val 8235"/>
            </a:avLst>
          </a:prstGeom>
          <a:solidFill>
            <a:srgbClr val="0891B2"/>
          </a:solidFill>
        </p:spPr>
      </p:sp>
      <p:sp>
        <p:nvSpPr>
          <p:cNvPr id="37" name="Text 35"/>
          <p:cNvSpPr/>
          <p:nvPr/>
        </p:nvSpPr>
        <p:spPr>
          <a:xfrm>
            <a:off x="5623560" y="3383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错误修复Agent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23560" y="3730752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FFAF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自动修正错误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132320" y="3680460"/>
            <a:ext cx="274320" cy="0"/>
          </a:xfrm>
          <a:prstGeom prst="line">
            <a:avLst/>
          </a:prstGeom>
          <a:noFill/>
          <a:ln w="1524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7132320" y="3616452"/>
            <a:ext cx="91440" cy="128016"/>
          </a:xfrm>
          <a:prstGeom prst="rect">
            <a:avLst/>
          </a:prstGeom>
          <a:solidFill>
            <a:srgbClr val="FF0000"/>
          </a:solidFill>
        </p:spPr>
      </p:sp>
      <p:sp>
        <p:nvSpPr>
          <p:cNvPr id="41" name="Text 39"/>
          <p:cNvSpPr/>
          <p:nvPr/>
        </p:nvSpPr>
        <p:spPr>
          <a:xfrm>
            <a:off x="7190740" y="3069590"/>
            <a:ext cx="215900" cy="611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有错误</a:t>
            </a:r>
            <a:endParaRPr lang="en-US" sz="9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9304655" y="3383280"/>
            <a:ext cx="1280160" cy="594360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4655" y="3383280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AADL模型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304655" y="306324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输出：语法正确的AADL代码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915400" y="3680460"/>
            <a:ext cx="297815" cy="635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13215" y="3616452"/>
            <a:ext cx="91440" cy="128016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49" name="Text 47"/>
          <p:cNvSpPr/>
          <p:nvPr/>
        </p:nvSpPr>
        <p:spPr>
          <a:xfrm>
            <a:off x="8983980" y="349758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" y="4480560"/>
            <a:ext cx="11247120" cy="164592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46177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流程说明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85800" y="498348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链式执行：6个Agent依次协作，前一步输出作为后一步输入，逐步完成从需求到代码的转换</a:t>
            </a:r>
            <a:r>
              <a:rPr lang="zh-CN" alt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，每一步的输出为格式固定的</a:t>
            </a:r>
            <a:r>
              <a:rPr lang="en-US" altLang="zh-CN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JSON</a:t>
            </a:r>
            <a:r>
              <a:rPr lang="zh-CN" alt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文件，便于纠错和</a:t>
            </a:r>
            <a:r>
              <a:rPr lang="zh-CN" alt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验证。</a:t>
            </a:r>
            <a:endParaRPr lang="zh-CN" altLang="en-US" sz="1150" dirty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685800" y="530352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验证闭环：验证不通过则进入修复Agent修正，修正后回到代码生成步骤重新验证，直至通过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85800" y="562356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职责单一：每个Agent专注一个子任务，降低单次生成复杂度，提高准确率</a:t>
            </a:r>
            <a:endParaRPr lang="en-US" sz="1150" dirty="0"/>
          </a:p>
        </p:txBody>
      </p:sp>
      <p:cxnSp>
        <p:nvCxnSpPr>
          <p:cNvPr id="59" name="直接连接符 58"/>
          <p:cNvCxnSpPr>
            <a:stCxn id="36" idx="0"/>
          </p:cNvCxnSpPr>
          <p:nvPr/>
        </p:nvCxnSpPr>
        <p:spPr>
          <a:xfrm flipV="1">
            <a:off x="6377940" y="2769870"/>
            <a:ext cx="0" cy="521970"/>
          </a:xfrm>
          <a:prstGeom prst="line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>
            <a:off x="6377940" y="2769870"/>
            <a:ext cx="1783080" cy="0"/>
          </a:xfrm>
          <a:prstGeom prst="straightConnector1">
            <a:avLst/>
          </a:prstGeom>
          <a:ln w="635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1" name="文本框 60"/>
          <p:cNvSpPr txBox="1"/>
          <p:nvPr/>
        </p:nvSpPr>
        <p:spPr>
          <a:xfrm>
            <a:off x="6680835" y="2540000"/>
            <a:ext cx="98298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900">
                <a:solidFill>
                  <a:schemeClr val="accent1">
                    <a:lumMod val="75000"/>
                  </a:schemeClr>
                </a:solidFill>
              </a:rPr>
              <a:t>重新</a:t>
            </a:r>
            <a:r>
              <a:rPr lang="zh-CN" altLang="en-US" sz="900">
                <a:solidFill>
                  <a:schemeClr val="accent1">
                    <a:lumMod val="50000"/>
                  </a:schemeClr>
                </a:solidFill>
              </a:rPr>
              <a:t>验证</a:t>
            </a:r>
            <a:endParaRPr lang="zh-CN" altLang="en-US" sz="90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9585" y="54864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/ 核心技术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本地小模型为核心的技术路线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548640" y="1554480"/>
          <a:ext cx="11064240" cy="27432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对比维度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本地小模型（核心）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商用API大模型（对比）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部署方式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✓ 本地部署，符合合作方要求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△ 云端API，需联网调用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使用成本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✓ 一次部署，长期使用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△ 按token计费，成本持续增加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专业领域表现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△ 需系统设计增强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△ 通用能力强，专业领域一般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可定制性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✓ 可微调适配特定领域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△ 通用模型，定制化程度低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适用场景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✓ 长期项目、专业领域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✓ 快速原型、效果对比</a:t>
                      </a:r>
                      <a:endParaRPr 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54864" marB="5486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8" name="Text 7"/>
          <p:cNvSpPr/>
          <p:nvPr/>
        </p:nvSpPr>
        <p:spPr>
          <a:xfrm>
            <a:off x="777240" y="4709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核心思路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无论是大模型还是小模型，在AADL这样的专业领域都无法直接达到理想效果。关键不在于模型大小，而在于通过系统设计弥补模型能力不足，让模型在专业任务上发挥最大效能。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/ 核心技术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关键技术模块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548640" y="1554480"/>
            <a:ext cx="3566160" cy="73152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0" name="Shape 8"/>
          <p:cNvSpPr/>
          <p:nvPr>
            <p:custDataLst>
              <p:tags r:id="rId3"/>
            </p:custDataLst>
          </p:nvPr>
        </p:nvSpPr>
        <p:spPr>
          <a:xfrm>
            <a:off x="777240" y="1783080"/>
            <a:ext cx="914400" cy="256032"/>
          </a:xfrm>
          <a:prstGeom prst="roundRect">
            <a:avLst>
              <a:gd name="adj" fmla="val 10714"/>
            </a:avLst>
          </a:prstGeom>
          <a:solidFill>
            <a:srgbClr val="EFF6FF"/>
          </a:solidFill>
        </p:spPr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777240" y="178308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全新学习</a:t>
            </a:r>
            <a:endParaRPr lang="en-US" sz="950" dirty="0"/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777240" y="21488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多Agent协作架构</a:t>
            </a:r>
            <a:endParaRPr lang="en-US" sz="1600" dirty="0"/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777240" y="25146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将复杂生成任务拆解为6个Agent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责任链模式串联执行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验证-修复闭环保证输出质量</a:t>
            </a:r>
            <a:endParaRPr lang="en-US" sz="1150" dirty="0"/>
          </a:p>
        </p:txBody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4343400" y="15544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4343400" y="1554480"/>
            <a:ext cx="3566160" cy="73152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16" name="Shape 14"/>
          <p:cNvSpPr/>
          <p:nvPr>
            <p:custDataLst>
              <p:tags r:id="rId9"/>
            </p:custDataLst>
          </p:nvPr>
        </p:nvSpPr>
        <p:spPr>
          <a:xfrm>
            <a:off x="4572000" y="1783080"/>
            <a:ext cx="914400" cy="256032"/>
          </a:xfrm>
          <a:prstGeom prst="roundRect">
            <a:avLst>
              <a:gd name="adj" fmla="val 10714"/>
            </a:avLst>
          </a:prstGeom>
          <a:solidFill>
            <a:srgbClr val="EFF6FF"/>
          </a:solidFill>
        </p:spPr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4572000" y="178308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实践深化</a:t>
            </a:r>
            <a:endParaRPr lang="en-US" sz="950" dirty="0"/>
          </a:p>
        </p:txBody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4572000" y="21488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RAG检索增强</a:t>
            </a:r>
            <a:endParaRPr lang="en-US" sz="1600" dirty="0"/>
          </a:p>
        </p:txBody>
      </p:sp>
      <p:sp>
        <p:nvSpPr>
          <p:cNvPr id="19" name="Text 17"/>
          <p:cNvSpPr/>
          <p:nvPr>
            <p:custDataLst>
              <p:tags r:id="rId12"/>
            </p:custDataLst>
          </p:nvPr>
        </p:nvSpPr>
        <p:spPr>
          <a:xfrm>
            <a:off x="4572000" y="25146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查询重写→向量搜索→融合→重排序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为Agent提供AADL语法知识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管道-过滤器架构，灵活可扩展</a:t>
            </a:r>
            <a:endParaRPr lang="en-US" sz="1150" dirty="0"/>
          </a:p>
        </p:txBody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8138160" y="15544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8138160" y="1554480"/>
            <a:ext cx="3566160" cy="73152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22" name="Shape 20"/>
          <p:cNvSpPr/>
          <p:nvPr>
            <p:custDataLst>
              <p:tags r:id="rId15"/>
            </p:custDataLst>
          </p:nvPr>
        </p:nvSpPr>
        <p:spPr>
          <a:xfrm>
            <a:off x="8366760" y="1783080"/>
            <a:ext cx="914400" cy="256032"/>
          </a:xfrm>
          <a:prstGeom prst="roundRect">
            <a:avLst>
              <a:gd name="adj" fmla="val 10714"/>
            </a:avLst>
          </a:prstGeom>
          <a:solidFill>
            <a:srgbClr val="EFF6FF"/>
          </a:solidFill>
        </p:spPr>
      </p:sp>
      <p:sp>
        <p:nvSpPr>
          <p:cNvPr id="23" name="Text 21"/>
          <p:cNvSpPr/>
          <p:nvPr>
            <p:custDataLst>
              <p:tags r:id="rId16"/>
            </p:custDataLst>
          </p:nvPr>
        </p:nvSpPr>
        <p:spPr>
          <a:xfrm>
            <a:off x="8366760" y="178308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实践深化</a:t>
            </a:r>
            <a:endParaRPr lang="en-US" sz="950" dirty="0"/>
          </a:p>
        </p:txBody>
      </p:sp>
      <p:sp>
        <p:nvSpPr>
          <p:cNvPr id="24" name="Text 22"/>
          <p:cNvSpPr/>
          <p:nvPr>
            <p:custDataLst>
              <p:tags r:id="rId17"/>
            </p:custDataLst>
          </p:nvPr>
        </p:nvSpPr>
        <p:spPr>
          <a:xfrm>
            <a:off x="8366760" y="21488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提示词工程</a:t>
            </a:r>
            <a:endParaRPr lang="en-US" sz="1600" dirty="0"/>
          </a:p>
        </p:txBody>
      </p:sp>
      <p:sp>
        <p:nvSpPr>
          <p:cNvPr id="25" name="Text 23"/>
          <p:cNvSpPr/>
          <p:nvPr>
            <p:custDataLst>
              <p:tags r:id="rId18"/>
            </p:custDataLst>
          </p:nvPr>
        </p:nvSpPr>
        <p:spPr>
          <a:xfrm>
            <a:off x="8366760" y="25146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YAML配置化结构化提示词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少样本学习+红线规则+自检清单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有效降低小模型生成错误率</a:t>
            </a:r>
            <a:endParaRPr lang="en-US" sz="1150" dirty="0"/>
          </a:p>
        </p:txBody>
      </p:sp>
      <p:sp>
        <p:nvSpPr>
          <p:cNvPr id="26" name="Shape 24"/>
          <p:cNvSpPr/>
          <p:nvPr>
            <p:custDataLst>
              <p:tags r:id="rId19"/>
            </p:custDataLst>
          </p:nvPr>
        </p:nvSpPr>
        <p:spPr>
          <a:xfrm>
            <a:off x="2103120" y="393192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>
            <p:custDataLst>
              <p:tags r:id="rId20"/>
            </p:custDataLst>
          </p:nvPr>
        </p:nvSpPr>
        <p:spPr>
          <a:xfrm>
            <a:off x="2103120" y="3931920"/>
            <a:ext cx="3749040" cy="73152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8" name="Shape 26"/>
          <p:cNvSpPr/>
          <p:nvPr>
            <p:custDataLst>
              <p:tags r:id="rId21"/>
            </p:custDataLst>
          </p:nvPr>
        </p:nvSpPr>
        <p:spPr>
          <a:xfrm>
            <a:off x="2331720" y="4160520"/>
            <a:ext cx="914400" cy="256032"/>
          </a:xfrm>
          <a:prstGeom prst="roundRect">
            <a:avLst>
              <a:gd name="adj" fmla="val 10714"/>
            </a:avLst>
          </a:prstGeom>
          <a:solidFill>
            <a:srgbClr val="ECFDF5"/>
          </a:solidFill>
        </p:spPr>
      </p:sp>
      <p:sp>
        <p:nvSpPr>
          <p:cNvPr id="29" name="Text 27"/>
          <p:cNvSpPr/>
          <p:nvPr>
            <p:custDataLst>
              <p:tags r:id="rId22"/>
            </p:custDataLst>
          </p:nvPr>
        </p:nvSpPr>
        <p:spPr>
          <a:xfrm>
            <a:off x="2331720" y="416052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全新学习</a:t>
            </a:r>
            <a:endParaRPr lang="en-US" sz="950" dirty="0"/>
          </a:p>
        </p:txBody>
      </p:sp>
      <p:sp>
        <p:nvSpPr>
          <p:cNvPr id="30" name="Text 28"/>
          <p:cNvSpPr/>
          <p:nvPr>
            <p:custDataLst>
              <p:tags r:id="rId23"/>
            </p:custDataLst>
          </p:nvPr>
        </p:nvSpPr>
        <p:spPr>
          <a:xfrm>
            <a:off x="2331720" y="452628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静态验证模块</a:t>
            </a:r>
            <a:endParaRPr lang="en-US" sz="1600" dirty="0"/>
          </a:p>
        </p:txBody>
      </p:sp>
      <p:sp>
        <p:nvSpPr>
          <p:cNvPr id="31" name="Text 29"/>
          <p:cNvSpPr/>
          <p:nvPr>
            <p:custDataLst>
              <p:tags r:id="rId24"/>
            </p:custDataLst>
          </p:nvPr>
        </p:nvSpPr>
        <p:spPr>
          <a:xfrm>
            <a:off x="2331720" y="48920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基于规则的AADL语法校验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引用完整性、类型一致性检查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属于静态验证范畴</a:t>
            </a:r>
            <a:endParaRPr lang="en-US" sz="1150" dirty="0"/>
          </a:p>
        </p:txBody>
      </p:sp>
      <p:sp>
        <p:nvSpPr>
          <p:cNvPr id="32" name="Shape 30"/>
          <p:cNvSpPr/>
          <p:nvPr>
            <p:custDataLst>
              <p:tags r:id="rId25"/>
            </p:custDataLst>
          </p:nvPr>
        </p:nvSpPr>
        <p:spPr>
          <a:xfrm>
            <a:off x="6126480" y="393192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>
            <p:custDataLst>
              <p:tags r:id="rId26"/>
            </p:custDataLst>
          </p:nvPr>
        </p:nvSpPr>
        <p:spPr>
          <a:xfrm>
            <a:off x="6126480" y="3931920"/>
            <a:ext cx="3749040" cy="73152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4" name="Shape 32"/>
          <p:cNvSpPr/>
          <p:nvPr>
            <p:custDataLst>
              <p:tags r:id="rId27"/>
            </p:custDataLst>
          </p:nvPr>
        </p:nvSpPr>
        <p:spPr>
          <a:xfrm>
            <a:off x="6355080" y="4160520"/>
            <a:ext cx="914400" cy="256032"/>
          </a:xfrm>
          <a:prstGeom prst="roundRect">
            <a:avLst>
              <a:gd name="adj" fmla="val 10714"/>
            </a:avLst>
          </a:prstGeom>
          <a:solidFill>
            <a:srgbClr val="ECFDF5"/>
          </a:solidFill>
        </p:spPr>
      </p:sp>
      <p:sp>
        <p:nvSpPr>
          <p:cNvPr id="35" name="Text 33"/>
          <p:cNvSpPr/>
          <p:nvPr>
            <p:custDataLst>
              <p:tags r:id="rId28"/>
            </p:custDataLst>
          </p:nvPr>
        </p:nvSpPr>
        <p:spPr>
          <a:xfrm>
            <a:off x="6355080" y="416052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全新学习</a:t>
            </a:r>
            <a:endParaRPr lang="en-US" sz="950" dirty="0"/>
          </a:p>
        </p:txBody>
      </p:sp>
      <p:sp>
        <p:nvSpPr>
          <p:cNvPr id="36" name="Text 34"/>
          <p:cNvSpPr/>
          <p:nvPr>
            <p:custDataLst>
              <p:tags r:id="rId29"/>
            </p:custDataLst>
          </p:nvPr>
        </p:nvSpPr>
        <p:spPr>
          <a:xfrm>
            <a:off x="6355080" y="452628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OSATE插件开发</a:t>
            </a:r>
            <a:endParaRPr lang="en-US" sz="1600" dirty="0"/>
          </a:p>
        </p:txBody>
      </p:sp>
      <p:sp>
        <p:nvSpPr>
          <p:cNvPr id="37" name="Text 35"/>
          <p:cNvSpPr/>
          <p:nvPr>
            <p:custDataLst>
              <p:tags r:id="rId30"/>
            </p:custDataLst>
          </p:nvPr>
        </p:nvSpPr>
        <p:spPr>
          <a:xfrm>
            <a:off x="6355080" y="48920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基于Eclipse插件体系开发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学习OSATE扩展点机制</a:t>
            </a:r>
            <a:endParaRPr lang="en-US" sz="11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为可视化展示做技术储备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/ 个人工作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实习期间负责的主要工作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777240" y="19659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777240" y="19659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1554480" y="18745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各Agent具体实现</a:t>
            </a:r>
            <a:endParaRPr lang="en-US" sz="1500" dirty="0"/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1554480" y="21031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在已有框架基础上实现6个Agent的具体逻辑，包括需求分析、架构生成、模块映射、代码生成等</a:t>
            </a:r>
            <a:endParaRPr lang="en-US" sz="1150" dirty="0"/>
          </a:p>
        </p:txBody>
      </p:sp>
      <p:sp>
        <p:nvSpPr>
          <p:cNvPr id="13" name="Shape 11"/>
          <p:cNvSpPr/>
          <p:nvPr>
            <p:custDataLst>
              <p:tags r:id="rId6"/>
            </p:custDataLst>
          </p:nvPr>
        </p:nvSpPr>
        <p:spPr>
          <a:xfrm>
            <a:off x="6217920" y="15544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6446520" y="19659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446520" y="19659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7223760" y="18745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提示词工程优化</a:t>
            </a:r>
            <a:endParaRPr lang="en-US" sz="1500" dirty="0"/>
          </a:p>
        </p:txBody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为每个Agent设计标准化YAML提示词模板，实践少样本学习、红线规则、自检清单等技术</a:t>
            </a:r>
            <a:endParaRPr lang="en-US" sz="1150" dirty="0"/>
          </a:p>
        </p:txBody>
      </p:sp>
      <p:sp>
        <p:nvSpPr>
          <p:cNvPr id="18" name="Shape 16"/>
          <p:cNvSpPr/>
          <p:nvPr>
            <p:custDataLst>
              <p:tags r:id="rId11"/>
            </p:custDataLst>
          </p:nvPr>
        </p:nvSpPr>
        <p:spPr>
          <a:xfrm>
            <a:off x="548640" y="31546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>
            <p:custDataLst>
              <p:tags r:id="rId12"/>
            </p:custDataLst>
          </p:nvPr>
        </p:nvSpPr>
        <p:spPr>
          <a:xfrm>
            <a:off x="777240" y="35661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20" name="Text 18"/>
          <p:cNvSpPr/>
          <p:nvPr>
            <p:custDataLst>
              <p:tags r:id="rId13"/>
            </p:custDataLst>
          </p:nvPr>
        </p:nvSpPr>
        <p:spPr>
          <a:xfrm>
            <a:off x="777240" y="35661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>
            <p:custDataLst>
              <p:tags r:id="rId14"/>
            </p:custDataLst>
          </p:nvPr>
        </p:nvSpPr>
        <p:spPr>
          <a:xfrm>
            <a:off x="1554480" y="352044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静态验证模块开发</a:t>
            </a:r>
            <a:endParaRPr lang="en-US" sz="1500" dirty="0"/>
          </a:p>
        </p:txBody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1554480" y="37033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开发AADL静态语法验证模块，实现语法错误检测、引用完整性校验、类型一致性检查等功能</a:t>
            </a:r>
            <a:endParaRPr lang="en-US" sz="1150" dirty="0"/>
          </a:p>
        </p:txBody>
      </p:sp>
      <p:sp>
        <p:nvSpPr>
          <p:cNvPr id="23" name="Shape 21"/>
          <p:cNvSpPr/>
          <p:nvPr>
            <p:custDataLst>
              <p:tags r:id="rId16"/>
            </p:custDataLst>
          </p:nvPr>
        </p:nvSpPr>
        <p:spPr>
          <a:xfrm>
            <a:off x="6217920" y="31546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>
            <p:custDataLst>
              <p:tags r:id="rId17"/>
            </p:custDataLst>
          </p:nvPr>
        </p:nvSpPr>
        <p:spPr>
          <a:xfrm>
            <a:off x="6446520" y="35661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25" name="Text 23"/>
          <p:cNvSpPr/>
          <p:nvPr>
            <p:custDataLst>
              <p:tags r:id="rId18"/>
            </p:custDataLst>
          </p:nvPr>
        </p:nvSpPr>
        <p:spPr>
          <a:xfrm>
            <a:off x="6446520" y="35661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>
            <p:custDataLst>
              <p:tags r:id="rId19"/>
            </p:custDataLst>
          </p:nvPr>
        </p:nvSpPr>
        <p:spPr>
          <a:xfrm>
            <a:off x="7223760" y="352044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微调数据集构造</a:t>
            </a:r>
            <a:endParaRPr lang="en-US" sz="1500" dirty="0"/>
          </a:p>
        </p:txBody>
      </p:sp>
      <p:sp>
        <p:nvSpPr>
          <p:cNvPr id="27" name="Text 25"/>
          <p:cNvSpPr/>
          <p:nvPr>
            <p:custDataLst>
              <p:tags r:id="rId20"/>
            </p:custDataLst>
          </p:nvPr>
        </p:nvSpPr>
        <p:spPr>
          <a:xfrm>
            <a:off x="7223760" y="37033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按指定JSON格式构造模型微调数据集，完成数据清洗、格式转换、质量校验等准备工作</a:t>
            </a:r>
            <a:endParaRPr lang="en-US" sz="1150" dirty="0"/>
          </a:p>
        </p:txBody>
      </p:sp>
      <p:sp>
        <p:nvSpPr>
          <p:cNvPr id="28" name="Shape 26"/>
          <p:cNvSpPr/>
          <p:nvPr>
            <p:custDataLst>
              <p:tags r:id="rId21"/>
            </p:custDataLst>
          </p:nvPr>
        </p:nvSpPr>
        <p:spPr>
          <a:xfrm>
            <a:off x="548640" y="47548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>
            <p:custDataLst>
              <p:tags r:id="rId22"/>
            </p:custDataLst>
          </p:nvPr>
        </p:nvSpPr>
        <p:spPr>
          <a:xfrm>
            <a:off x="777240" y="51663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30" name="Text 28"/>
          <p:cNvSpPr/>
          <p:nvPr>
            <p:custDataLst>
              <p:tags r:id="rId23"/>
            </p:custDataLst>
          </p:nvPr>
        </p:nvSpPr>
        <p:spPr>
          <a:xfrm>
            <a:off x="777240" y="51663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>
            <p:custDataLst>
              <p:tags r:id="rId24"/>
            </p:custDataLst>
          </p:nvPr>
        </p:nvSpPr>
        <p:spPr>
          <a:xfrm>
            <a:off x="1554480" y="511556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系统集成测试</a:t>
            </a:r>
            <a:endParaRPr lang="en-US" sz="1500" dirty="0"/>
          </a:p>
        </p:txBody>
      </p:sp>
      <p:sp>
        <p:nvSpPr>
          <p:cNvPr id="32" name="Text 30"/>
          <p:cNvSpPr/>
          <p:nvPr>
            <p:custDataLst>
              <p:tags r:id="rId25"/>
            </p:custDataLst>
          </p:nvPr>
        </p:nvSpPr>
        <p:spPr>
          <a:xfrm>
            <a:off x="1554480" y="53035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进行多Agent系统集成测试，调试各Agent间的信息传递和协作流程，修复发现的问题</a:t>
            </a:r>
            <a:endParaRPr lang="en-US" sz="1150" dirty="0"/>
          </a:p>
        </p:txBody>
      </p:sp>
      <p:sp>
        <p:nvSpPr>
          <p:cNvPr id="33" name="Shape 31"/>
          <p:cNvSpPr/>
          <p:nvPr>
            <p:custDataLst>
              <p:tags r:id="rId26"/>
            </p:custDataLst>
          </p:nvPr>
        </p:nvSpPr>
        <p:spPr>
          <a:xfrm>
            <a:off x="6217920" y="4754880"/>
            <a:ext cx="539496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>
            <p:custDataLst>
              <p:tags r:id="rId27"/>
            </p:custDataLst>
          </p:nvPr>
        </p:nvSpPr>
        <p:spPr>
          <a:xfrm>
            <a:off x="6446520" y="5166360"/>
            <a:ext cx="594360" cy="594360"/>
          </a:xfrm>
          <a:prstGeom prst="ellipse">
            <a:avLst/>
          </a:prstGeom>
          <a:solidFill>
            <a:srgbClr val="1D4ED8"/>
          </a:solidFill>
        </p:spPr>
      </p:sp>
      <p:sp>
        <p:nvSpPr>
          <p:cNvPr id="35" name="Text 33"/>
          <p:cNvSpPr/>
          <p:nvPr>
            <p:custDataLst>
              <p:tags r:id="rId28"/>
            </p:custDataLst>
          </p:nvPr>
        </p:nvSpPr>
        <p:spPr>
          <a:xfrm>
            <a:off x="6446520" y="51663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600" dirty="0"/>
          </a:p>
        </p:txBody>
      </p:sp>
      <p:sp>
        <p:nvSpPr>
          <p:cNvPr id="36" name="Text 34"/>
          <p:cNvSpPr/>
          <p:nvPr>
            <p:custDataLst>
              <p:tags r:id="rId29"/>
            </p:custDataLst>
          </p:nvPr>
        </p:nvSpPr>
        <p:spPr>
          <a:xfrm>
            <a:off x="7223760" y="511556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OSATE插件学习</a:t>
            </a:r>
            <a:endParaRPr lang="en-US" sz="1500" dirty="0"/>
          </a:p>
        </p:txBody>
      </p:sp>
      <p:sp>
        <p:nvSpPr>
          <p:cNvPr id="37" name="Text 35"/>
          <p:cNvSpPr/>
          <p:nvPr>
            <p:custDataLst>
              <p:tags r:id="rId30"/>
            </p:custDataLst>
          </p:nvPr>
        </p:nvSpPr>
        <p:spPr>
          <a:xfrm>
            <a:off x="7223760" y="5303520"/>
            <a:ext cx="4206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学习OSATE插件开发技术，了解Eclipse插件体系和OSATE扩展点机制，为可视化做准备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/ 个人工作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遇到的困难与解决方法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777240" y="1810512"/>
            <a:ext cx="457200" cy="457200"/>
          </a:xfrm>
          <a:prstGeom prst="ellipse">
            <a:avLst/>
          </a:prstGeom>
          <a:solidFill>
            <a:srgbClr val="D97706"/>
          </a:solidFill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777240" y="18105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1371600" y="1901825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问题：小模型生成的AADL语法错误多</a:t>
            </a:r>
            <a:endParaRPr lang="en-US" sz="1300" dirty="0"/>
          </a:p>
        </p:txBody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5760720" y="1645920"/>
            <a:ext cx="0" cy="77724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035040" y="164592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解决：引入静态验证模块 + 错误修复Agent，形成验证闭环，自动检测并修复常见语法错误</a:t>
            </a:r>
            <a:endParaRPr lang="en-US" sz="1200" dirty="0"/>
          </a:p>
        </p:txBody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548640" y="269748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777240" y="2953512"/>
            <a:ext cx="457200" cy="457200"/>
          </a:xfrm>
          <a:prstGeom prst="ellipse">
            <a:avLst/>
          </a:prstGeom>
          <a:solidFill>
            <a:srgbClr val="D97706"/>
          </a:solidFill>
        </p:spPr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777240" y="29535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1440180" y="3035935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问题：Agent间信息传递不稳定</a:t>
            </a:r>
            <a:endParaRPr lang="en-US" sz="1300" dirty="0"/>
          </a:p>
        </p:txBody>
      </p:sp>
      <p:sp>
        <p:nvSpPr>
          <p:cNvPr id="18" name="Shape 16"/>
          <p:cNvSpPr/>
          <p:nvPr>
            <p:custDataLst>
              <p:tags r:id="rId11"/>
            </p:custDataLst>
          </p:nvPr>
        </p:nvSpPr>
        <p:spPr>
          <a:xfrm>
            <a:off x="5760720" y="2788920"/>
            <a:ext cx="0" cy="77724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>
            <p:custDataLst>
              <p:tags r:id="rId12"/>
            </p:custDataLst>
          </p:nvPr>
        </p:nvSpPr>
        <p:spPr>
          <a:xfrm>
            <a:off x="6035040" y="278892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解决：从纯文本传递改为结构化JSON传递，增加格式校验，提高信息传递的准确性和可靠性</a:t>
            </a:r>
            <a:endParaRPr lang="en-US" sz="1200" dirty="0"/>
          </a:p>
        </p:txBody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548640" y="384048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D97706"/>
          </a:solidFill>
        </p:spPr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777240" y="40965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>
            <p:custDataLst>
              <p:tags r:id="rId16"/>
            </p:custDataLst>
          </p:nvPr>
        </p:nvSpPr>
        <p:spPr>
          <a:xfrm>
            <a:off x="1440180" y="41376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问题：长文档需求超出上下文窗口</a:t>
            </a:r>
            <a:endParaRPr lang="en-US" sz="1300" dirty="0"/>
          </a:p>
        </p:txBody>
      </p:sp>
      <p:sp>
        <p:nvSpPr>
          <p:cNvPr id="24" name="Shape 22"/>
          <p:cNvSpPr/>
          <p:nvPr>
            <p:custDataLst>
              <p:tags r:id="rId17"/>
            </p:custDataLst>
          </p:nvPr>
        </p:nvSpPr>
        <p:spPr>
          <a:xfrm>
            <a:off x="5760720" y="3931920"/>
            <a:ext cx="0" cy="77724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>
            <p:custDataLst>
              <p:tags r:id="rId18"/>
            </p:custDataLst>
          </p:nvPr>
        </p:nvSpPr>
        <p:spPr>
          <a:xfrm>
            <a:off x="6035040" y="393192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解决：将需求文档拆解为多个子模块分批处理，通过全局上下文卡片和架构树统一管理各模块信息，保证整体结构一致性</a:t>
            </a:r>
            <a:endParaRPr lang="en-US" sz="1200" dirty="0"/>
          </a:p>
        </p:txBody>
      </p:sp>
      <p:sp>
        <p:nvSpPr>
          <p:cNvPr id="26" name="Shape 24"/>
          <p:cNvSpPr/>
          <p:nvPr>
            <p:custDataLst>
              <p:tags r:id="rId19"/>
            </p:custDataLst>
          </p:nvPr>
        </p:nvSpPr>
        <p:spPr>
          <a:xfrm>
            <a:off x="548640" y="498348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>
            <p:custDataLst>
              <p:tags r:id="rId20"/>
            </p:custDataLst>
          </p:nvPr>
        </p:nvSpPr>
        <p:spPr>
          <a:xfrm>
            <a:off x="777240" y="5239512"/>
            <a:ext cx="457200" cy="457200"/>
          </a:xfrm>
          <a:prstGeom prst="ellipse">
            <a:avLst/>
          </a:prstGeom>
          <a:solidFill>
            <a:srgbClr val="D97706"/>
          </a:solidFill>
        </p:spPr>
      </p:sp>
      <p:sp>
        <p:nvSpPr>
          <p:cNvPr id="28" name="Text 26"/>
          <p:cNvSpPr/>
          <p:nvPr>
            <p:custDataLst>
              <p:tags r:id="rId21"/>
            </p:custDataLst>
          </p:nvPr>
        </p:nvSpPr>
        <p:spPr>
          <a:xfrm>
            <a:off x="777240" y="52395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>
            <p:custDataLst>
              <p:tags r:id="rId22"/>
            </p:custDataLst>
          </p:nvPr>
        </p:nvSpPr>
        <p:spPr>
          <a:xfrm>
            <a:off x="1371600" y="5330825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问题：模型选择：效率与准确性的平衡</a:t>
            </a:r>
            <a:endParaRPr lang="en-US" sz="1300" dirty="0"/>
          </a:p>
        </p:txBody>
      </p:sp>
      <p:sp>
        <p:nvSpPr>
          <p:cNvPr id="30" name="Shape 28"/>
          <p:cNvSpPr/>
          <p:nvPr>
            <p:custDataLst>
              <p:tags r:id="rId23"/>
            </p:custDataLst>
          </p:nvPr>
        </p:nvSpPr>
        <p:spPr>
          <a:xfrm>
            <a:off x="5760720" y="5074920"/>
            <a:ext cx="0" cy="77724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>
            <p:custDataLst>
              <p:tags r:id="rId24"/>
            </p:custDataLst>
          </p:nvPr>
        </p:nvSpPr>
        <p:spPr>
          <a:xfrm>
            <a:off x="6035040" y="507492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解决：通过实验对比不同参数模型在各Agent上的表现，简单任务用小模型提高效率，复杂任务用较大模型保证质量，形成混合模型调用策略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 / 收获与展望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实习收获与个人成长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54480"/>
            <a:ext cx="5303520" cy="29260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🛠 技术收获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多Agent系统架构设计能力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56032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提示词工程系统化实践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2926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RAG检索增强全流程实践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32918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静态验证方法的实际应用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36576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跨领域学习能力（AADL/航天）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0233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OSATE插件开发入门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554480"/>
            <a:ext cx="5303520" cy="2926080"/>
          </a:xfrm>
          <a:prstGeom prst="rect">
            <a:avLst/>
          </a:prstGeom>
          <a:solidFill>
            <a:srgbClr val="F8F9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综合成长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1945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快速进入已有项目的能力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256032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团队协作与沟通能力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37960" y="29260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工程职业道德意识强化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37960" y="32918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科研项目规范认知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36576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自主学习与问题解决能力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37960" y="40233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✓  项目管理与进度把控意识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63550"/>
            <a:ext cx="110642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 / 收获与展望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9875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项目现状与未来展望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548640" cy="0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54480"/>
            <a:ext cx="5303520" cy="2011680"/>
          </a:xfrm>
          <a:prstGeom prst="rect">
            <a:avLst/>
          </a:prstGeom>
          <a:solidFill>
            <a:srgbClr val="FFFBEB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73736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📋 当前状态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核心功能已实现并通过初步测试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56032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微调数据集已构造完成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292608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模型微调工作待开展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329184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OSATE可视化插件待开发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5303520" cy="2011680"/>
          </a:xfrm>
          <a:prstGeom prst="rect">
            <a:avLst/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73736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🚀 未来工作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219456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开展模型微调，提升生成质量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37960" y="256032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与合作方业务场景对接验证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292608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开发OSATE可视化插件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3291840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支持更多AADL高级特性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14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👤 个人展望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572000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继续关注项目进展，为后续完善贡献力量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63640" y="4572000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深入学习大模型应用开发，掌握更多前沿技术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5029200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加强架构设计和工程实践能力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263640" y="5029200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拓展形式化验证等专业领域知识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D4ED8"/>
          </a:solidFill>
        </p:spPr>
      </p:sp>
      <p:sp>
        <p:nvSpPr>
          <p:cNvPr id="4" name="Text 2"/>
          <p:cNvSpPr/>
          <p:nvPr/>
        </p:nvSpPr>
        <p:spPr>
          <a:xfrm>
            <a:off x="914400" y="228600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敬请各位老师批评指正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8288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389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基于多Agent协作的AADL模型自动生成系统</a:t>
            </a:r>
            <a:endParaRPr lang="en-US" sz="16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2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3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4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5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6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7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8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9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0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1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2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3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4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5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6.xml><?xml version="1.0" encoding="utf-8"?>
<p:tagLst xmlns:p="http://schemas.openxmlformats.org/presentationml/2006/main">
  <p:tag name="KSO_WM_DIAGRAM_VIRTUALLY_FRAME" val="{&quot;height&quot;:338.4,&quot;left&quot;:43.2,&quot;top&quot;:122.4,&quot;width&quot;:871.2}"/>
</p:tagLst>
</file>

<file path=ppt/tags/tag17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18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19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0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1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2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3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4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5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6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7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8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29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0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1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2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3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4.xml><?xml version="1.0" encoding="utf-8"?>
<p:tagLst xmlns:p="http://schemas.openxmlformats.org/presentationml/2006/main">
  <p:tag name="KSO_WM_DIAGRAM_VIRTUALLY_FRAME" val="{&quot;height&quot;:230.4,&quot;left&quot;:43.2,&quot;top&quot;:144,&quot;width&quot;:669.6}"/>
</p:tagLst>
</file>

<file path=ppt/tags/tag35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36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37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38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39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0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1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2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3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4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5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6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7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8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49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0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1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2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3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4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5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6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7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8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59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0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1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2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3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4.xml><?xml version="1.0" encoding="utf-8"?>
<p:tagLst xmlns:p="http://schemas.openxmlformats.org/presentationml/2006/main">
  <p:tag name="KSO_WM_DIAGRAM_VIRTUALLY_FRAME" val="{&quot;height&quot;:352.8,&quot;left&quot;:43.2,&quot;top&quot;:122.4,&quot;width&quot;:878.4}"/>
</p:tagLst>
</file>

<file path=ppt/tags/tag65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66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67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68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69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0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1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2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3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4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5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6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7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8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79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0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1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2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3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4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5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6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7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8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89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0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1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2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3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4.xml><?xml version="1.0" encoding="utf-8"?>
<p:tagLst xmlns:p="http://schemas.openxmlformats.org/presentationml/2006/main">
  <p:tag name="KSO_WM_DIAGRAM_VIRTUALLY_FRAME" val="{&quot;height&quot;:363.6,&quot;left&quot;:43.2,&quot;top&quot;:122.4,&quot;width&quot;:871.2}"/>
</p:tagLst>
</file>

<file path=ppt/tags/tag95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96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97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98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99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0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1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2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3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4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5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6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7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8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09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0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1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2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3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4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5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6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7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ags/tag118.xml><?xml version="1.0" encoding="utf-8"?>
<p:tagLst xmlns:p="http://schemas.openxmlformats.org/presentationml/2006/main">
  <p:tag name="KSO_WM_DIAGRAM_VIRTUALLY_FRAME" val="{&quot;height&quot;:345.6,&quot;left&quot;:43.2,&quot;top&quot;:122.4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3496</Words>
  <Application>WPS 演示</Application>
  <PresentationFormat>On-screen Show (16:9)</PresentationFormat>
  <Paragraphs>488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基于多Agent协作的AADL模型自动生成系统 - 实习答辩</dc:title>
  <dc:creator>实习学生</dc:creator>
  <dc:subject>实习答辩</dc:subject>
  <cp:lastModifiedBy>sjndn</cp:lastModifiedBy>
  <cp:revision>6</cp:revision>
  <dcterms:created xsi:type="dcterms:W3CDTF">2026-08-29T12:57:00Z</dcterms:created>
  <dcterms:modified xsi:type="dcterms:W3CDTF">2026-09-01T03:42:26Z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4B622F14C7164B019E1E9D435C2506D6_12</vt:lpwstr>
  </property>
  <property fmtid="{D5CDD505-2E9C-101B-9397-08002B2CF9AE}" pid="3" name="KSOProductBuildVer">
    <vt:lpwstr>2052-12.1.0.21915</vt:lpwstr>
  </property>
</Properties>
</file>