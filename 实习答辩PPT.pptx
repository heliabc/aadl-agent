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5" Type="http://schemas.openxmlformats.org/officeDocument/2006/relationships/notesSlide" Target="../notesSlides/notesSlide5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6" Type="http://schemas.openxmlformats.org/officeDocument/2006/relationships/notesSlide" Target="../notesSlides/notesSlide8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47.xml"/><Relationship Id="rId23" Type="http://schemas.openxmlformats.org/officeDocument/2006/relationships/tags" Target="../tags/tag46.xml"/><Relationship Id="rId22" Type="http://schemas.openxmlformats.org/officeDocument/2006/relationships/tags" Target="../tags/tag45.xml"/><Relationship Id="rId21" Type="http://schemas.openxmlformats.org/officeDocument/2006/relationships/tags" Target="../tags/tag44.xml"/><Relationship Id="rId20" Type="http://schemas.openxmlformats.org/officeDocument/2006/relationships/tags" Target="../tags/tag43.xml"/><Relationship Id="rId2" Type="http://schemas.openxmlformats.org/officeDocument/2006/relationships/tags" Target="../tags/tag25.xml"/><Relationship Id="rId19" Type="http://schemas.openxmlformats.org/officeDocument/2006/relationships/tags" Target="../tags/tag42.xml"/><Relationship Id="rId18" Type="http://schemas.openxmlformats.org/officeDocument/2006/relationships/tags" Target="../tags/tag41.xml"/><Relationship Id="rId17" Type="http://schemas.openxmlformats.org/officeDocument/2006/relationships/tags" Target="../tags/tag40.xml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tags" Target="../tags/tag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2" Type="http://schemas.openxmlformats.org/officeDocument/2006/relationships/notesSlide" Target="../notesSlides/notesSlide10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77.xml"/><Relationship Id="rId3" Type="http://schemas.openxmlformats.org/officeDocument/2006/relationships/tags" Target="../tags/tag50.xml"/><Relationship Id="rId29" Type="http://schemas.openxmlformats.org/officeDocument/2006/relationships/tags" Target="../tags/tag76.xml"/><Relationship Id="rId28" Type="http://schemas.openxmlformats.org/officeDocument/2006/relationships/tags" Target="../tags/tag75.xml"/><Relationship Id="rId27" Type="http://schemas.openxmlformats.org/officeDocument/2006/relationships/tags" Target="../tags/tag74.xml"/><Relationship Id="rId26" Type="http://schemas.openxmlformats.org/officeDocument/2006/relationships/tags" Target="../tags/tag73.xml"/><Relationship Id="rId25" Type="http://schemas.openxmlformats.org/officeDocument/2006/relationships/tags" Target="../tags/tag72.xml"/><Relationship Id="rId24" Type="http://schemas.openxmlformats.org/officeDocument/2006/relationships/tags" Target="../tags/tag71.xml"/><Relationship Id="rId23" Type="http://schemas.openxmlformats.org/officeDocument/2006/relationships/tags" Target="../tags/tag70.xml"/><Relationship Id="rId22" Type="http://schemas.openxmlformats.org/officeDocument/2006/relationships/tags" Target="../tags/tag69.xml"/><Relationship Id="rId21" Type="http://schemas.openxmlformats.org/officeDocument/2006/relationships/tags" Target="../tags/tag68.xml"/><Relationship Id="rId20" Type="http://schemas.openxmlformats.org/officeDocument/2006/relationships/tags" Target="../tags/tag67.xml"/><Relationship Id="rId2" Type="http://schemas.openxmlformats.org/officeDocument/2006/relationships/tags" Target="../tags/tag49.xml"/><Relationship Id="rId19" Type="http://schemas.openxmlformats.org/officeDocument/2006/relationships/tags" Target="../tags/tag66.xml"/><Relationship Id="rId18" Type="http://schemas.openxmlformats.org/officeDocument/2006/relationships/tags" Target="../tags/tag65.xml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tags" Target="../tags/tag4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4" name="Text 2"/>
          <p:cNvSpPr/>
          <p:nvPr/>
        </p:nvSpPr>
        <p:spPr>
          <a:xfrm>
            <a:off x="914400" y="1828800"/>
            <a:ext cx="91440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基于多Agent协作的</a:t>
            </a:r>
            <a:endParaRPr lang="en-US" sz="3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AADL模型生成系统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校内项目式实习答辩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206240"/>
            <a:ext cx="18288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合作单位：</a:t>
            </a:r>
            <a:r>
              <a:rPr lang="en-US" sz="1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中国航天科工集团706研究所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892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　　生：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何立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53035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　　业：</a:t>
            </a:r>
            <a:r>
              <a:rPr lang="en-US" sz="1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软件工程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7150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指导教师：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杨志斌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 / CONTENTS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答辩内容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16002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920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合作背景与项目意义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5544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040880" y="16002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问题与挑战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40880" y="1920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小模型生成AADL的技术难点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9260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71600" y="29718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技术路线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2918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从原型到最终方案的演进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9260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040880" y="29718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系统架构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40880" y="32918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多Agent协作架构设计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2976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371600" y="43434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核心技术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6634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关键技术模块详解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42976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040880" y="43434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个人工作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40880" y="46634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实习期间负责的内容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371600" y="57150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收获与展望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60350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实习总结与未来方向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/ 项目背景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项目背景与意义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03520" cy="219456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合作背景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103120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本项目是与中国航天科工集团706研究所合作的科研项目，面向航天嵌入式系统架构设计场景，旨在利用大语言模型和多Agent协作技术，实现从自然语言需求文档到AADL架构模型的自动化转换。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5303520" cy="219456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6916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什么是AADL？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103120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AADL（架构分析与设计语言）是一种面向嵌入式实时系统的标准化建模语言，广泛应用于航空航天等安全关键领域，用于描述系统的软硬件架构和功能行为。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064240" cy="201168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605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项目意义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57200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提高航天嵌入式系统架构设计效率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457200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降低AADL建模的技术门槛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512064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本地部署保障航天数据安全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512064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为小模型在专业领域应用提供参考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/ 问题与挑战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核心问题与技术挑战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94960" cy="20116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73152" cy="201168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0" name="Text 8"/>
          <p:cNvSpPr/>
          <p:nvPr/>
        </p:nvSpPr>
        <p:spPr>
          <a:xfrm>
            <a:off x="868680" y="18288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 小模型理解能力有限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33172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32B以下小模型对复杂需求的理解和推理能力不足，容易产生语法错误和结构偏差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5394960" cy="20116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554480"/>
            <a:ext cx="73152" cy="201168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4" name="Text 12"/>
          <p:cNvSpPr/>
          <p:nvPr/>
        </p:nvSpPr>
        <p:spPr>
          <a:xfrm>
            <a:off x="6537960" y="18288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 AADL语法规则复杂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233172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AADL有严格的组件类型、连接规则、属性定义，直接生成容易出现大量语法错误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394960" cy="20116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840480"/>
            <a:ext cx="73152" cy="201168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8" name="Text 16"/>
          <p:cNvSpPr/>
          <p:nvPr/>
        </p:nvSpPr>
        <p:spPr>
          <a:xfrm>
            <a:off x="868680" y="41148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 数据安全要求严格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461772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航天项目需求文档涉及敏感技术信息，必须本地部署，不能使用外部API大模型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3840480"/>
            <a:ext cx="5394960" cy="20116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840480"/>
            <a:ext cx="73152" cy="201168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2" name="Text 20"/>
          <p:cNvSpPr/>
          <p:nvPr/>
        </p:nvSpPr>
        <p:spPr>
          <a:xfrm>
            <a:off x="6537960" y="411480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⚠  上下文窗口限制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461772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小模型上下文窗口较小，长文档需求难以一次性处理，需要合理的任务拆解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/ 技术路线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技术路线演进：从大模型到小模型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548640" y="182880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548640" y="1828800"/>
            <a:ext cx="2651760" cy="457200"/>
          </a:xfrm>
          <a:prstGeom prst="rect">
            <a:avLst/>
          </a:prstGeom>
          <a:solidFill>
            <a:srgbClr val="6B7280"/>
          </a:solidFill>
        </p:spPr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548640" y="190195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第一阶段</a:t>
            </a:r>
            <a:endParaRPr lang="en-US" sz="1300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685800" y="24688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商用大模型</a:t>
            </a:r>
            <a:r>
              <a:rPr lang="zh-CN" alt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</a:t>
            </a:r>
            <a:endParaRPr lang="zh-CN" altLang="en-US" sz="1500" b="1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731520" y="3063240"/>
            <a:ext cx="22860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直接使用DeepSeek、豆包等API</a:t>
            </a:r>
            <a:r>
              <a:rPr lang="zh-CN" alt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</a:t>
            </a: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</a:t>
            </a:r>
            <a:r>
              <a:rPr lang="zh-CN" alt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效果</a:t>
            </a:r>
            <a:r>
              <a:rPr lang="zh-CN" alt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相对较好</a:t>
            </a: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zh-CN" alt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但准确性仍无法保障，而且</a:t>
            </a: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数据安全无法保障</a:t>
            </a:r>
            <a:endParaRPr lang="en-US" sz="1150" dirty="0"/>
          </a:p>
        </p:txBody>
      </p:sp>
      <p:sp>
        <p:nvSpPr>
          <p:cNvPr id="13" name="Shape 11"/>
          <p:cNvSpPr/>
          <p:nvPr>
            <p:custDataLst>
              <p:tags r:id="rId6"/>
            </p:custDataLst>
          </p:nvPr>
        </p:nvSpPr>
        <p:spPr>
          <a:xfrm>
            <a:off x="3246120" y="3154680"/>
            <a:ext cx="137160" cy="274320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3383280" y="182880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8"/>
            </p:custDataLst>
          </p:nvPr>
        </p:nvSpPr>
        <p:spPr>
          <a:xfrm>
            <a:off x="3383280" y="1828800"/>
            <a:ext cx="2651760" cy="45720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3383280" y="190195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第二阶段</a:t>
            </a:r>
            <a:endParaRPr lang="en-US" sz="1300" dirty="0"/>
          </a:p>
        </p:txBody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3520440" y="24688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转向本地小模型</a:t>
            </a:r>
            <a:endParaRPr lang="en-US" sz="1500" dirty="0"/>
          </a:p>
        </p:txBody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3566160" y="3063240"/>
            <a:ext cx="22860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考虑</a:t>
            </a:r>
            <a:r>
              <a:rPr lang="zh-CN" alt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实际使用场景</a:t>
            </a: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，切换到Ollama本地部署</a:t>
            </a:r>
            <a:r>
              <a:rPr lang="zh-CN" alt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小模型直接生成效果差，语法错误多</a:t>
            </a:r>
            <a:r>
              <a:rPr lang="zh-CN" alt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，结构</a:t>
            </a:r>
            <a:r>
              <a:rPr lang="zh-CN" alt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混乱。</a:t>
            </a:r>
            <a:endParaRPr lang="zh-CN" altLang="en-US" sz="115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Shape 17"/>
          <p:cNvSpPr/>
          <p:nvPr>
            <p:custDataLst>
              <p:tags r:id="rId12"/>
            </p:custDataLst>
          </p:nvPr>
        </p:nvSpPr>
        <p:spPr>
          <a:xfrm>
            <a:off x="6080760" y="3154680"/>
            <a:ext cx="137160" cy="274320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20" name="Shape 18"/>
          <p:cNvSpPr/>
          <p:nvPr>
            <p:custDataLst>
              <p:tags r:id="rId13"/>
            </p:custDataLst>
          </p:nvPr>
        </p:nvSpPr>
        <p:spPr>
          <a:xfrm>
            <a:off x="6217920" y="182880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21" name="Shape 19"/>
          <p:cNvSpPr/>
          <p:nvPr>
            <p:custDataLst>
              <p:tags r:id="rId14"/>
            </p:custDataLst>
          </p:nvPr>
        </p:nvSpPr>
        <p:spPr>
          <a:xfrm>
            <a:off x="6217920" y="1828800"/>
            <a:ext cx="2651760" cy="45720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6217920" y="190195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第三阶段</a:t>
            </a:r>
            <a:endParaRPr lang="en-US" sz="1300" dirty="0"/>
          </a:p>
        </p:txBody>
      </p:sp>
      <p:sp>
        <p:nvSpPr>
          <p:cNvPr id="23" name="Text 21"/>
          <p:cNvSpPr/>
          <p:nvPr>
            <p:custDataLst>
              <p:tags r:id="rId16"/>
            </p:custDataLst>
          </p:nvPr>
        </p:nvSpPr>
        <p:spPr>
          <a:xfrm>
            <a:off x="6355080" y="24688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系统设计补不足</a:t>
            </a:r>
            <a:endParaRPr lang="en-US" sz="1500" dirty="0"/>
          </a:p>
        </p:txBody>
      </p:sp>
      <p:sp>
        <p:nvSpPr>
          <p:cNvPr id="24" name="Text 22"/>
          <p:cNvSpPr/>
          <p:nvPr>
            <p:custDataLst>
              <p:tags r:id="rId17"/>
            </p:custDataLst>
          </p:nvPr>
        </p:nvSpPr>
        <p:spPr>
          <a:xfrm>
            <a:off x="6400800" y="3063240"/>
            <a:ext cx="22860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多Agent任务拆解 + RAG知识增强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 提示词优化 + 静态验证+</a:t>
            </a:r>
            <a:r>
              <a:rPr lang="zh-CN" alt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</a:t>
            </a:r>
            <a:r>
              <a:rPr lang="zh-CN" alt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修复</a:t>
            </a:r>
            <a:endParaRPr lang="zh-CN" altLang="en-US" sz="115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Shape 23"/>
          <p:cNvSpPr/>
          <p:nvPr>
            <p:custDataLst>
              <p:tags r:id="rId18"/>
            </p:custDataLst>
          </p:nvPr>
        </p:nvSpPr>
        <p:spPr>
          <a:xfrm>
            <a:off x="8915400" y="3154680"/>
            <a:ext cx="137160" cy="274320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26" name="Shape 24"/>
          <p:cNvSpPr/>
          <p:nvPr>
            <p:custDataLst>
              <p:tags r:id="rId19"/>
            </p:custDataLst>
          </p:nvPr>
        </p:nvSpPr>
        <p:spPr>
          <a:xfrm>
            <a:off x="9052560" y="182880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7" name="Shape 25"/>
          <p:cNvSpPr/>
          <p:nvPr>
            <p:custDataLst>
              <p:tags r:id="rId20"/>
            </p:custDataLst>
          </p:nvPr>
        </p:nvSpPr>
        <p:spPr>
          <a:xfrm>
            <a:off x="9052560" y="1828800"/>
            <a:ext cx="2651760" cy="45720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8" name="Text 26"/>
          <p:cNvSpPr/>
          <p:nvPr>
            <p:custDataLst>
              <p:tags r:id="rId21"/>
            </p:custDataLst>
          </p:nvPr>
        </p:nvSpPr>
        <p:spPr>
          <a:xfrm>
            <a:off x="9052560" y="190195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第四阶段</a:t>
            </a:r>
            <a:endParaRPr lang="en-US" sz="1300" dirty="0"/>
          </a:p>
        </p:txBody>
      </p:sp>
      <p:sp>
        <p:nvSpPr>
          <p:cNvPr id="29" name="Text 27"/>
          <p:cNvSpPr/>
          <p:nvPr>
            <p:custDataLst>
              <p:tags r:id="rId22"/>
            </p:custDataLst>
          </p:nvPr>
        </p:nvSpPr>
        <p:spPr>
          <a:xfrm>
            <a:off x="9189720" y="246888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持续优化</a:t>
            </a:r>
            <a:endParaRPr lang="en-US" sz="1500" dirty="0"/>
          </a:p>
        </p:txBody>
      </p:sp>
      <p:sp>
        <p:nvSpPr>
          <p:cNvPr id="30" name="Text 28"/>
          <p:cNvSpPr/>
          <p:nvPr>
            <p:custDataLst>
              <p:tags r:id="rId23"/>
            </p:custDataLst>
          </p:nvPr>
        </p:nvSpPr>
        <p:spPr>
          <a:xfrm>
            <a:off x="9235440" y="3067050"/>
            <a:ext cx="22860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11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持续实验，根据实验结果调整提示词，丰富知识库。构造微调数据集，为微调做准备。</a:t>
            </a:r>
            <a:endParaRPr lang="zh-CN" altLang="en-US" sz="11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257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关键洞察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小模型不是大模型的简单降级，而是需要完全不同的系统设计思路。通过精巧的系统架构设计，可以在很大程度上弥补模型能力的不足，让中小参数模型也能完成高质量的专业任务。</a:t>
            </a:r>
            <a:endParaRPr lang="en-US" sz="1250" dirty="0"/>
          </a:p>
        </p:txBody>
      </p:sp>
      <p:sp>
        <p:nvSpPr>
          <p:cNvPr id="34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1965" y="6510655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/ 系统架构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系统分层架构设计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554480"/>
            <a:ext cx="9418320" cy="548640"/>
          </a:xfrm>
          <a:prstGeom prst="roundRect">
            <a:avLst>
              <a:gd name="adj" fmla="val 8333"/>
            </a:avLst>
          </a:prstGeom>
          <a:solidFill>
            <a:srgbClr val="DBEAFE"/>
          </a:solidFill>
        </p:spPr>
      </p:sp>
      <p:sp>
        <p:nvSpPr>
          <p:cNvPr id="9" name="Text 7"/>
          <p:cNvSpPr/>
          <p:nvPr/>
        </p:nvSpPr>
        <p:spPr>
          <a:xfrm>
            <a:off x="1645920" y="16002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Infrastructure 基础设施层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6002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Qdrant向量库 / Spring Boot / POI / Lombok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2212848"/>
            <a:ext cx="9418320" cy="548640"/>
          </a:xfrm>
          <a:prstGeom prst="roundRect">
            <a:avLst>
              <a:gd name="adj" fmla="val 8333"/>
            </a:avLst>
          </a:prstGeom>
          <a:solidFill>
            <a:srgbClr val="93C5FD"/>
          </a:solidFill>
        </p:spPr>
      </p:sp>
      <p:sp>
        <p:nvSpPr>
          <p:cNvPr id="12" name="Text 10"/>
          <p:cNvSpPr/>
          <p:nvPr/>
        </p:nvSpPr>
        <p:spPr>
          <a:xfrm>
            <a:off x="1645920" y="225856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Client 模型客户端层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258568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Ollama / OpenAI / DeepSeek / 豆包 多模型适配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2871216"/>
            <a:ext cx="9418320" cy="548640"/>
          </a:xfrm>
          <a:prstGeom prst="roundRect">
            <a:avLst>
              <a:gd name="adj" fmla="val 8333"/>
            </a:avLst>
          </a:prstGeom>
          <a:solidFill>
            <a:srgbClr val="60A5FA"/>
          </a:solidFill>
        </p:spPr>
      </p:sp>
      <p:sp>
        <p:nvSpPr>
          <p:cNvPr id="15" name="Text 13"/>
          <p:cNvSpPr/>
          <p:nvPr/>
        </p:nvSpPr>
        <p:spPr>
          <a:xfrm>
            <a:off x="1645920" y="2916936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 检索增强层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2916936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查询重写 / 向量搜索 / 结果融合 / 重排序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3529584"/>
            <a:ext cx="9418320" cy="548640"/>
          </a:xfrm>
          <a:prstGeom prst="roundRect">
            <a:avLst>
              <a:gd name="adj" fmla="val 8333"/>
            </a:avLst>
          </a:prstGeom>
          <a:solidFill>
            <a:srgbClr val="3B82F6"/>
          </a:solidFill>
        </p:spPr>
      </p:sp>
      <p:sp>
        <p:nvSpPr>
          <p:cNvPr id="18" name="Text 16"/>
          <p:cNvSpPr/>
          <p:nvPr/>
        </p:nvSpPr>
        <p:spPr>
          <a:xfrm>
            <a:off x="1645920" y="3575304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Service 服务层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57530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追溯服务 / 验证服务 / 转换服务 / 文档服务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371600" y="4187952"/>
            <a:ext cx="9418320" cy="640080"/>
          </a:xfrm>
          <a:prstGeom prst="roundRect">
            <a:avLst>
              <a:gd name="adj" fmla="val 7143"/>
            </a:avLst>
          </a:prstGeom>
          <a:solidFill>
            <a:srgbClr val="2563EB"/>
          </a:solidFill>
        </p:spPr>
      </p:sp>
      <p:sp>
        <p:nvSpPr>
          <p:cNvPr id="21" name="Text 19"/>
          <p:cNvSpPr/>
          <p:nvPr/>
        </p:nvSpPr>
        <p:spPr>
          <a:xfrm>
            <a:off x="1645920" y="423367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智能体层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4233672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需求分析 / 架构生成 / 模块映射 / 代码生成 / 验证 / 修复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71600" y="4937760"/>
            <a:ext cx="9418320" cy="548640"/>
          </a:xfrm>
          <a:prstGeom prst="roundRect">
            <a:avLst>
              <a:gd name="adj" fmla="val 8333"/>
            </a:avLst>
          </a:prstGeom>
          <a:solidFill>
            <a:srgbClr val="1D4ED8"/>
          </a:solidFill>
        </p:spPr>
      </p:sp>
      <p:sp>
        <p:nvSpPr>
          <p:cNvPr id="24" name="Text 22"/>
          <p:cNvSpPr/>
          <p:nvPr/>
        </p:nvSpPr>
        <p:spPr>
          <a:xfrm>
            <a:off x="1645920" y="49834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Controller 控制层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49834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REST API 接口 / WebSocket 流式输出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4864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架构特点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" y="5852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分层设计，低耦合高内聚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5852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责任链模式串联Agent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2179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管道-过滤器架构RAG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62179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多模型灵活切换适配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63321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/ 系统架构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多Agent链式协作架构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56032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1D4ED8"/>
          </a:solidFill>
        </p:spPr>
      </p:sp>
      <p:sp>
        <p:nvSpPr>
          <p:cNvPr id="9" name="Text 7"/>
          <p:cNvSpPr/>
          <p:nvPr/>
        </p:nvSpPr>
        <p:spPr>
          <a:xfrm>
            <a:off x="548640" y="2788920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需求分析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Requirement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03120" y="3017520"/>
            <a:ext cx="228600" cy="182880"/>
          </a:xfrm>
          <a:prstGeom prst="rect">
            <a:avLst/>
          </a:prstGeom>
          <a:solidFill>
            <a:srgbClr val="6B7280"/>
          </a:solidFill>
        </p:spPr>
      </p:sp>
      <p:sp>
        <p:nvSpPr>
          <p:cNvPr id="12" name="Shape 10"/>
          <p:cNvSpPr/>
          <p:nvPr/>
        </p:nvSpPr>
        <p:spPr>
          <a:xfrm>
            <a:off x="2377440" y="256032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1D4ED8"/>
          </a:solidFill>
        </p:spPr>
      </p:sp>
      <p:sp>
        <p:nvSpPr>
          <p:cNvPr id="13" name="Text 11"/>
          <p:cNvSpPr/>
          <p:nvPr/>
        </p:nvSpPr>
        <p:spPr>
          <a:xfrm>
            <a:off x="2377440" y="2788920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架构树生成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77440" y="320040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0" y="3017520"/>
            <a:ext cx="228600" cy="182880"/>
          </a:xfrm>
          <a:prstGeom prst="rect">
            <a:avLst/>
          </a:prstGeom>
          <a:solidFill>
            <a:srgbClr val="6B7280"/>
          </a:solidFill>
        </p:spPr>
      </p:sp>
      <p:sp>
        <p:nvSpPr>
          <p:cNvPr id="16" name="Shape 14"/>
          <p:cNvSpPr/>
          <p:nvPr/>
        </p:nvSpPr>
        <p:spPr>
          <a:xfrm>
            <a:off x="4206240" y="256032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1D4ED8"/>
          </a:solidFill>
        </p:spPr>
      </p:sp>
      <p:sp>
        <p:nvSpPr>
          <p:cNvPr id="17" name="Text 15"/>
          <p:cNvSpPr/>
          <p:nvPr/>
        </p:nvSpPr>
        <p:spPr>
          <a:xfrm>
            <a:off x="4206240" y="2788920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模块映射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06240" y="320040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Mapping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60720" y="3017520"/>
            <a:ext cx="228600" cy="182880"/>
          </a:xfrm>
          <a:prstGeom prst="rect">
            <a:avLst/>
          </a:prstGeom>
          <a:solidFill>
            <a:srgbClr val="6B7280"/>
          </a:solidFill>
        </p:spPr>
      </p:sp>
      <p:sp>
        <p:nvSpPr>
          <p:cNvPr id="20" name="Shape 18"/>
          <p:cNvSpPr/>
          <p:nvPr/>
        </p:nvSpPr>
        <p:spPr>
          <a:xfrm>
            <a:off x="6035040" y="256032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1D4ED8"/>
          </a:solidFill>
        </p:spPr>
      </p:sp>
      <p:sp>
        <p:nvSpPr>
          <p:cNvPr id="21" name="Text 19"/>
          <p:cNvSpPr/>
          <p:nvPr/>
        </p:nvSpPr>
        <p:spPr>
          <a:xfrm>
            <a:off x="6035040" y="2788920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代码生成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35040" y="320040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Generator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89520" y="3017520"/>
            <a:ext cx="228600" cy="182880"/>
          </a:xfrm>
          <a:prstGeom prst="rect">
            <a:avLst/>
          </a:prstGeom>
          <a:solidFill>
            <a:srgbClr val="6B7280"/>
          </a:solidFill>
        </p:spPr>
      </p:sp>
      <p:sp>
        <p:nvSpPr>
          <p:cNvPr id="24" name="Shape 22"/>
          <p:cNvSpPr/>
          <p:nvPr/>
        </p:nvSpPr>
        <p:spPr>
          <a:xfrm>
            <a:off x="7863840" y="256032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059669"/>
          </a:solidFill>
        </p:spPr>
      </p:sp>
      <p:sp>
        <p:nvSpPr>
          <p:cNvPr id="25" name="Text 23"/>
          <p:cNvSpPr/>
          <p:nvPr/>
        </p:nvSpPr>
        <p:spPr>
          <a:xfrm>
            <a:off x="7863840" y="2788920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语法验证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863840" y="320040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Validator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418320" y="3017520"/>
            <a:ext cx="228600" cy="182880"/>
          </a:xfrm>
          <a:prstGeom prst="rect">
            <a:avLst/>
          </a:prstGeom>
          <a:solidFill>
            <a:srgbClr val="6B7280"/>
          </a:solidFill>
        </p:spPr>
      </p:sp>
      <p:sp>
        <p:nvSpPr>
          <p:cNvPr id="28" name="Shape 26"/>
          <p:cNvSpPr/>
          <p:nvPr/>
        </p:nvSpPr>
        <p:spPr>
          <a:xfrm>
            <a:off x="9692640" y="256032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059669"/>
          </a:solidFill>
        </p:spPr>
      </p:sp>
      <p:sp>
        <p:nvSpPr>
          <p:cNvPr id="29" name="Text 27"/>
          <p:cNvSpPr/>
          <p:nvPr/>
        </p:nvSpPr>
        <p:spPr>
          <a:xfrm>
            <a:off x="9692640" y="2788920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错误修复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92640" y="320040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Fixer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2011680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自然语言需求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303020" y="2377440"/>
            <a:ext cx="0" cy="18288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0" y="3794760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AADL模型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812780" y="3657600"/>
            <a:ext cx="0" cy="137160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63840" y="4206240"/>
            <a:ext cx="3200400" cy="457200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0" y="42062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↩ 验证-修复闭环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4916805"/>
            <a:ext cx="11064240" cy="164592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45262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设计思路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77240" y="493776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任务拆解：将复杂生成任务分解为6个专业步骤，每个Agent职责单一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63640" y="493776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链式执行：通过AgentChain串联执行，前一步输出作为后一步输入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77240" y="539496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验证闭环：语法验证 + 错误修复形成闭环，确保输出质量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63640" y="539496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知识增强：RAG检索增强为每个Agent提供领域知识支持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/ 核心技术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关键技术模块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548640" y="1554480"/>
            <a:ext cx="53949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548640" y="1554480"/>
            <a:ext cx="5394960" cy="73152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10" name="Shape 8"/>
          <p:cNvSpPr/>
          <p:nvPr>
            <p:custDataLst>
              <p:tags r:id="rId3"/>
            </p:custDataLst>
          </p:nvPr>
        </p:nvSpPr>
        <p:spPr>
          <a:xfrm>
            <a:off x="822960" y="1828800"/>
            <a:ext cx="1005840" cy="2743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</p:spPr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822960" y="18288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实践深化</a:t>
            </a:r>
            <a:endParaRPr lang="en-US" sz="1000" dirty="0"/>
          </a:p>
        </p:txBody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822960" y="21945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提示词工程</a:t>
            </a:r>
            <a:endParaRPr lang="en-US" sz="1700" dirty="0"/>
          </a:p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822960" y="260604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YAML配置化结构化提示词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少样本学习 + 红线规则 + 自检清单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能输出结构正确，语法存在一些错误的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AADL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6217920" y="1554480"/>
            <a:ext cx="53949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8"/>
            </p:custDataLst>
          </p:nvPr>
        </p:nvSpPr>
        <p:spPr>
          <a:xfrm>
            <a:off x="6217920" y="1554480"/>
            <a:ext cx="5394960" cy="73152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16" name="Shape 14"/>
          <p:cNvSpPr/>
          <p:nvPr>
            <p:custDataLst>
              <p:tags r:id="rId9"/>
            </p:custDataLst>
          </p:nvPr>
        </p:nvSpPr>
        <p:spPr>
          <a:xfrm>
            <a:off x="6492240" y="1828800"/>
            <a:ext cx="1005840" cy="2743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</p:spPr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6492240" y="18288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实践深化</a:t>
            </a:r>
            <a:endParaRPr lang="en-US" sz="1000" dirty="0"/>
          </a:p>
        </p:txBody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6492240" y="21945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RAG检索增强</a:t>
            </a:r>
            <a:endParaRPr lang="en-US" sz="1700" dirty="0"/>
          </a:p>
        </p:txBody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6492240" y="260604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查询重写→向量搜索→结果融合→重排序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为Agent提供AADL语法知识支持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管道-过滤器架构，可灵活替换</a:t>
            </a:r>
            <a:endParaRPr lang="en-US" sz="1200" dirty="0"/>
          </a:p>
        </p:txBody>
      </p:sp>
      <p:sp>
        <p:nvSpPr>
          <p:cNvPr id="20" name="Shape 18"/>
          <p:cNvSpPr/>
          <p:nvPr>
            <p:custDataLst>
              <p:tags r:id="rId13"/>
            </p:custDataLst>
          </p:nvPr>
        </p:nvSpPr>
        <p:spPr>
          <a:xfrm>
            <a:off x="548640" y="3931920"/>
            <a:ext cx="53949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>
            <p:custDataLst>
              <p:tags r:id="rId14"/>
            </p:custDataLst>
          </p:nvPr>
        </p:nvSpPr>
        <p:spPr>
          <a:xfrm>
            <a:off x="548640" y="3931920"/>
            <a:ext cx="5394960" cy="73152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2" name="Shape 20"/>
          <p:cNvSpPr/>
          <p:nvPr>
            <p:custDataLst>
              <p:tags r:id="rId15"/>
            </p:custDataLst>
          </p:nvPr>
        </p:nvSpPr>
        <p:spPr>
          <a:xfrm>
            <a:off x="822960" y="4206240"/>
            <a:ext cx="1005840" cy="2743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</p:spPr>
      </p:sp>
      <p:sp>
        <p:nvSpPr>
          <p:cNvPr id="23" name="Text 21"/>
          <p:cNvSpPr/>
          <p:nvPr>
            <p:custDataLst>
              <p:tags r:id="rId16"/>
            </p:custDataLst>
          </p:nvPr>
        </p:nvSpPr>
        <p:spPr>
          <a:xfrm>
            <a:off x="822960" y="42062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全新学习</a:t>
            </a:r>
            <a:endParaRPr lang="en-US" sz="1000" dirty="0"/>
          </a:p>
        </p:txBody>
      </p:sp>
      <p:sp>
        <p:nvSpPr>
          <p:cNvPr id="24" name="Text 22"/>
          <p:cNvSpPr/>
          <p:nvPr>
            <p:custDataLst>
              <p:tags r:id="rId17"/>
            </p:custDataLst>
          </p:nvPr>
        </p:nvSpPr>
        <p:spPr>
          <a:xfrm>
            <a:off x="822960" y="45720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静态验证模块</a:t>
            </a:r>
            <a:endParaRPr lang="en-US" sz="1700" dirty="0"/>
          </a:p>
        </p:txBody>
      </p:sp>
      <p:sp>
        <p:nvSpPr>
          <p:cNvPr id="25" name="Text 23"/>
          <p:cNvSpPr/>
          <p:nvPr>
            <p:custDataLst>
              <p:tags r:id="rId18"/>
            </p:custDataLst>
          </p:nvPr>
        </p:nvSpPr>
        <p:spPr>
          <a:xfrm>
            <a:off x="822960" y="498348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基于规则的AADL语法校验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引用完整性、类型一致性检查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属于静态验证范畴</a:t>
            </a:r>
            <a:endParaRPr lang="en-US" sz="1200" dirty="0"/>
          </a:p>
        </p:txBody>
      </p:sp>
      <p:sp>
        <p:nvSpPr>
          <p:cNvPr id="26" name="Shape 24"/>
          <p:cNvSpPr/>
          <p:nvPr>
            <p:custDataLst>
              <p:tags r:id="rId19"/>
            </p:custDataLst>
          </p:nvPr>
        </p:nvSpPr>
        <p:spPr>
          <a:xfrm>
            <a:off x="6217920" y="3931920"/>
            <a:ext cx="53949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>
            <p:custDataLst>
              <p:tags r:id="rId20"/>
            </p:custDataLst>
          </p:nvPr>
        </p:nvSpPr>
        <p:spPr>
          <a:xfrm>
            <a:off x="6217920" y="3931920"/>
            <a:ext cx="5394960" cy="73152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8" name="Shape 26"/>
          <p:cNvSpPr/>
          <p:nvPr>
            <p:custDataLst>
              <p:tags r:id="rId21"/>
            </p:custDataLst>
          </p:nvPr>
        </p:nvSpPr>
        <p:spPr>
          <a:xfrm>
            <a:off x="6492240" y="4206240"/>
            <a:ext cx="1005840" cy="2743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</p:spPr>
      </p:sp>
      <p:sp>
        <p:nvSpPr>
          <p:cNvPr id="29" name="Text 27"/>
          <p:cNvSpPr/>
          <p:nvPr>
            <p:custDataLst>
              <p:tags r:id="rId22"/>
            </p:custDataLst>
          </p:nvPr>
        </p:nvSpPr>
        <p:spPr>
          <a:xfrm>
            <a:off x="6492240" y="42062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全新学习</a:t>
            </a:r>
            <a:endParaRPr lang="en-US" sz="1000" dirty="0"/>
          </a:p>
        </p:txBody>
      </p:sp>
      <p:sp>
        <p:nvSpPr>
          <p:cNvPr id="30" name="Text 28"/>
          <p:cNvSpPr/>
          <p:nvPr>
            <p:custDataLst>
              <p:tags r:id="rId23"/>
            </p:custDataLst>
          </p:nvPr>
        </p:nvSpPr>
        <p:spPr>
          <a:xfrm>
            <a:off x="6492240" y="45720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微调数据集构造</a:t>
            </a:r>
            <a:endParaRPr lang="en-US" sz="1700" dirty="0"/>
          </a:p>
        </p:txBody>
      </p:sp>
      <p:sp>
        <p:nvSpPr>
          <p:cNvPr id="31" name="Text 29"/>
          <p:cNvSpPr/>
          <p:nvPr>
            <p:custDataLst>
              <p:tags r:id="rId24"/>
            </p:custDataLst>
          </p:nvPr>
        </p:nvSpPr>
        <p:spPr>
          <a:xfrm>
            <a:off x="6492240" y="498348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指定JSON格式的标准化数据集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数据清洗、格式转换、质量校验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为后续模型微调打下基础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/ 核心技术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本地小模型为核心的技术路线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48640" y="1554480"/>
          <a:ext cx="11064240" cy="27432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对比维度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本地小模型（核心）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商用API大模型（对比）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数据安全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完全本地，数据不泄露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△ 数据需上传第三方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使用成本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零边际成本，一次部署长期使用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△ 按token计费，大规模使用成本高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生成质量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△ 基础能力较弱，需系统设计弥补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理解和生成能力强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适用场景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航天等涉密领域、长期项目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非敏感数据、效果对比验证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可定制性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可微调适配特定领域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△ 通用模型，定制化程度低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8" name="Text 7"/>
          <p:cNvSpPr/>
          <p:nvPr/>
        </p:nvSpPr>
        <p:spPr>
          <a:xfrm>
            <a:off x="777240" y="47091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核心思路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512064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模型不是大模型的简单降级，而是需要完全不同的系统设计思路——大模型时代"大力出奇迹"，小模型时代则需要"巧劲补不足"，通过任务拆解、知识增强、提示优化、规则兜底等组合拳，让小模型发挥最大效能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/ 个人工作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实习期间负责的主要工作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548640" y="15544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777240" y="1965960"/>
            <a:ext cx="594360" cy="594360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777240" y="19659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1554480" y="17373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各Agent具体实现</a:t>
            </a:r>
            <a:endParaRPr lang="en-US" sz="1500" dirty="0"/>
          </a:p>
        </p:txBody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1554480" y="21031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在已有框架基础上实现6个Agent的具体逻辑，包括需求分析、架构生成、模块映射、代码生成等</a:t>
            </a:r>
            <a:endParaRPr lang="en-US" sz="1150" dirty="0"/>
          </a:p>
        </p:txBody>
      </p:sp>
      <p:sp>
        <p:nvSpPr>
          <p:cNvPr id="13" name="Shape 11"/>
          <p:cNvSpPr/>
          <p:nvPr>
            <p:custDataLst>
              <p:tags r:id="rId6"/>
            </p:custDataLst>
          </p:nvPr>
        </p:nvSpPr>
        <p:spPr>
          <a:xfrm>
            <a:off x="6217920" y="15544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6446520" y="1965960"/>
            <a:ext cx="594360" cy="594360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6446520" y="19659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7223760" y="17373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提示词工程优化</a:t>
            </a:r>
            <a:endParaRPr lang="en-US" sz="1500" dirty="0"/>
          </a:p>
        </p:txBody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7223760" y="21031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为每个Agent设计标准化YAML提示词模板，实践少样本学习、红线规则、自检清单等技术</a:t>
            </a:r>
            <a:endParaRPr lang="en-US" sz="1150" dirty="0"/>
          </a:p>
        </p:txBody>
      </p:sp>
      <p:sp>
        <p:nvSpPr>
          <p:cNvPr id="18" name="Shape 16"/>
          <p:cNvSpPr/>
          <p:nvPr>
            <p:custDataLst>
              <p:tags r:id="rId11"/>
            </p:custDataLst>
          </p:nvPr>
        </p:nvSpPr>
        <p:spPr>
          <a:xfrm>
            <a:off x="548640" y="31546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>
            <p:custDataLst>
              <p:tags r:id="rId12"/>
            </p:custDataLst>
          </p:nvPr>
        </p:nvSpPr>
        <p:spPr>
          <a:xfrm>
            <a:off x="777240" y="3566160"/>
            <a:ext cx="594360" cy="594360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20" name="Text 18"/>
          <p:cNvSpPr/>
          <p:nvPr>
            <p:custDataLst>
              <p:tags r:id="rId13"/>
            </p:custDataLst>
          </p:nvPr>
        </p:nvSpPr>
        <p:spPr>
          <a:xfrm>
            <a:off x="777240" y="35661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>
            <p:custDataLst>
              <p:tags r:id="rId14"/>
            </p:custDataLst>
          </p:nvPr>
        </p:nvSpPr>
        <p:spPr>
          <a:xfrm>
            <a:off x="1554480" y="33375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静态验证模块开发</a:t>
            </a:r>
            <a:endParaRPr lang="en-US" sz="1500" dirty="0"/>
          </a:p>
        </p:txBody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1554480" y="37033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开发AADL静态语法验证模块，实现语法错误检测、引用完整性校验、类型一致性检查等功能</a:t>
            </a:r>
            <a:endParaRPr lang="en-US" sz="1150" dirty="0"/>
          </a:p>
        </p:txBody>
      </p:sp>
      <p:sp>
        <p:nvSpPr>
          <p:cNvPr id="23" name="Shape 21"/>
          <p:cNvSpPr/>
          <p:nvPr>
            <p:custDataLst>
              <p:tags r:id="rId16"/>
            </p:custDataLst>
          </p:nvPr>
        </p:nvSpPr>
        <p:spPr>
          <a:xfrm>
            <a:off x="6217920" y="31546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>
            <p:custDataLst>
              <p:tags r:id="rId17"/>
            </p:custDataLst>
          </p:nvPr>
        </p:nvSpPr>
        <p:spPr>
          <a:xfrm>
            <a:off x="6446520" y="3566160"/>
            <a:ext cx="594360" cy="594360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25" name="Text 23"/>
          <p:cNvSpPr/>
          <p:nvPr>
            <p:custDataLst>
              <p:tags r:id="rId18"/>
            </p:custDataLst>
          </p:nvPr>
        </p:nvSpPr>
        <p:spPr>
          <a:xfrm>
            <a:off x="6446520" y="35661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>
            <p:custDataLst>
              <p:tags r:id="rId19"/>
            </p:custDataLst>
          </p:nvPr>
        </p:nvSpPr>
        <p:spPr>
          <a:xfrm>
            <a:off x="7223760" y="33375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微调数据集构造</a:t>
            </a:r>
            <a:endParaRPr lang="en-US" sz="1500" dirty="0"/>
          </a:p>
        </p:txBody>
      </p:sp>
      <p:sp>
        <p:nvSpPr>
          <p:cNvPr id="27" name="Text 25"/>
          <p:cNvSpPr/>
          <p:nvPr>
            <p:custDataLst>
              <p:tags r:id="rId20"/>
            </p:custDataLst>
          </p:nvPr>
        </p:nvSpPr>
        <p:spPr>
          <a:xfrm>
            <a:off x="7223760" y="37033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按指定JSON格式构造模型微调数据集，完成数据清洗、格式转换、质量校验等工作</a:t>
            </a:r>
            <a:endParaRPr lang="en-US" sz="1150" dirty="0"/>
          </a:p>
        </p:txBody>
      </p:sp>
      <p:sp>
        <p:nvSpPr>
          <p:cNvPr id="28" name="Shape 26"/>
          <p:cNvSpPr/>
          <p:nvPr>
            <p:custDataLst>
              <p:tags r:id="rId21"/>
            </p:custDataLst>
          </p:nvPr>
        </p:nvSpPr>
        <p:spPr>
          <a:xfrm>
            <a:off x="548640" y="47548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>
            <p:custDataLst>
              <p:tags r:id="rId22"/>
            </p:custDataLst>
          </p:nvPr>
        </p:nvSpPr>
        <p:spPr>
          <a:xfrm>
            <a:off x="777240" y="5166360"/>
            <a:ext cx="594360" cy="594360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30" name="Text 28"/>
          <p:cNvSpPr/>
          <p:nvPr>
            <p:custDataLst>
              <p:tags r:id="rId23"/>
            </p:custDataLst>
          </p:nvPr>
        </p:nvSpPr>
        <p:spPr>
          <a:xfrm>
            <a:off x="777240" y="51663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>
            <p:custDataLst>
              <p:tags r:id="rId24"/>
            </p:custDataLst>
          </p:nvPr>
        </p:nvSpPr>
        <p:spPr>
          <a:xfrm>
            <a:off x="1554480" y="49377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系统集成测试</a:t>
            </a:r>
            <a:endParaRPr lang="en-US" sz="1500" dirty="0"/>
          </a:p>
        </p:txBody>
      </p:sp>
      <p:sp>
        <p:nvSpPr>
          <p:cNvPr id="32" name="Text 30"/>
          <p:cNvSpPr/>
          <p:nvPr>
            <p:custDataLst>
              <p:tags r:id="rId25"/>
            </p:custDataLst>
          </p:nvPr>
        </p:nvSpPr>
        <p:spPr>
          <a:xfrm>
            <a:off x="1554480" y="53035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进行多Agent系统集成测试，调试各Agent间的信息传递和协作流程，修复发现的问题</a:t>
            </a:r>
            <a:endParaRPr lang="en-US" sz="1150" dirty="0"/>
          </a:p>
        </p:txBody>
      </p:sp>
      <p:sp>
        <p:nvSpPr>
          <p:cNvPr id="33" name="Shape 31"/>
          <p:cNvSpPr/>
          <p:nvPr>
            <p:custDataLst>
              <p:tags r:id="rId26"/>
            </p:custDataLst>
          </p:nvPr>
        </p:nvSpPr>
        <p:spPr>
          <a:xfrm>
            <a:off x="6217920" y="47548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>
            <p:custDataLst>
              <p:tags r:id="rId27"/>
            </p:custDataLst>
          </p:nvPr>
        </p:nvSpPr>
        <p:spPr>
          <a:xfrm>
            <a:off x="6446520" y="5166360"/>
            <a:ext cx="594360" cy="594360"/>
          </a:xfrm>
          <a:prstGeom prst="ellipse">
            <a:avLst/>
          </a:prstGeom>
          <a:solidFill>
            <a:srgbClr val="1D4ED8"/>
          </a:solidFill>
        </p:spPr>
      </p:sp>
      <p:sp>
        <p:nvSpPr>
          <p:cNvPr id="35" name="Text 33"/>
          <p:cNvSpPr/>
          <p:nvPr>
            <p:custDataLst>
              <p:tags r:id="rId28"/>
            </p:custDataLst>
          </p:nvPr>
        </p:nvSpPr>
        <p:spPr>
          <a:xfrm>
            <a:off x="6446520" y="51663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600" dirty="0"/>
          </a:p>
        </p:txBody>
      </p:sp>
      <p:sp>
        <p:nvSpPr>
          <p:cNvPr id="36" name="Text 34"/>
          <p:cNvSpPr/>
          <p:nvPr>
            <p:custDataLst>
              <p:tags r:id="rId29"/>
            </p:custDataLst>
          </p:nvPr>
        </p:nvSpPr>
        <p:spPr>
          <a:xfrm>
            <a:off x="7223760" y="49377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OSATE插件</a:t>
            </a:r>
            <a:r>
              <a:rPr lang="zh-CN" altLang="en-US" sz="15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</a:t>
            </a:r>
            <a:endParaRPr lang="zh-CN" altLang="en-US" sz="1500" b="1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7" name="Text 35"/>
          <p:cNvSpPr/>
          <p:nvPr>
            <p:custDataLst>
              <p:tags r:id="rId30"/>
            </p:custDataLst>
          </p:nvPr>
        </p:nvSpPr>
        <p:spPr>
          <a:xfrm>
            <a:off x="7223760" y="5303520"/>
            <a:ext cx="4206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学习OSATE插件开发技术，了解Eclipse插件体系和OSATE扩展点机制，为可视化做准备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/ 个人工作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遇到的困难与解决方法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🐛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63040" y="16459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问题：小模型生成的AADL语法错误多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0" cy="6858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69164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解决：引入静态验证模块 + 错误修复Agent，形成验证闭环，自动检测并修复常见语法错误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9260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63040" y="27889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问题：Agent间信息传递不稳定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2834640"/>
            <a:ext cx="0" cy="6858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83464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解决：从纯文本传递改为结构化JSON传递，增加格式校验，提高信息传递的准确性和可靠性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0690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463040" y="39319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问题：长文档需求超出上下文窗口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3977640"/>
            <a:ext cx="0" cy="6858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97764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解决：将需求拆解为多个子模块分批处理，通过架构树统一管理，再逐步生成完整模型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9834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2120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463040" y="50749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问题：提示词优化迭代效率低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5120640"/>
            <a:ext cx="0" cy="6858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512064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解决：采用YAML配置化管理，提示词与代码解耦，支持快速迭代和多版本对比测试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/ 收获与展望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实习收获与个人成长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03520" cy="29260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🛠 技术收获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多Agent系统架构设计能力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提示词工程从入门到系统实践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静态验证方法的实际应用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2918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数据工程与数据集构造经验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36576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跨领域学习能力（AADL/航天）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40233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OSATE插件开发入门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1554480"/>
            <a:ext cx="5303520" cy="29260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综合成长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21945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快速进入已有项目的能力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256032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团队协作与沟通能力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37960" y="2926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工程职业道德意识强化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37960" y="32918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航天领域保密规范认知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7960" y="36576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自主学习与问题解决能力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37960" y="40233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 项目管理与进度把控意识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/ 收获与展望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项目现状与未来展望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03520" cy="2011680"/>
          </a:xfrm>
          <a:prstGeom prst="rect">
            <a:avLst/>
          </a:prstGeom>
          <a:solidFill>
            <a:srgbClr val="FFFBEB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📋 当前状态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核心功能已实现并通过初步测试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微调数据集构造完成，待模型微调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尚未与706所实际业务场景对接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29184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OSATE可视化插件待开发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5303520" cy="2011680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7373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🚀 未来展望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219456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完成模型微调，进一步提升生成质量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37960" y="256032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与706所业务场景对接验证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7960" y="292608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开发OSATE可视化插件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329184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支持更多AADL高级特性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11064240" cy="210312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114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👤 个人展望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572000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继续关注项目进展，为后续完善贡献力量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63640" y="4572000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深入学习大模型应用开发，掌握更多前沿技术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" y="5029200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加强形式化验证等专业领域知识学习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63640" y="5029200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提升系统架构设计和工程实践能力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4" name="Text 2"/>
          <p:cNvSpPr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敬请各位老师批评指正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114800"/>
            <a:ext cx="18288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3891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基于多Agent协作的AADL模型自动生成系统</a:t>
            </a:r>
            <a:endParaRPr lang="en-US" sz="16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2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3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4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5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6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7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8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9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10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11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12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13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14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15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16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17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18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19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20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21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22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23.xml><?xml version="1.0" encoding="utf-8"?>
<p:tagLst xmlns:p="http://schemas.openxmlformats.org/presentationml/2006/main">
  <p:tag name="KSO_WM_DIAGRAM_VIRTUALLY_FRAME" val="{&quot;height&quot;:230.4,&quot;left&quot;:43.2,&quot;top&quot;:144,&quot;width&quot;:878.4}"/>
</p:tagLst>
</file>

<file path=ppt/tags/tag24.xml><?xml version="1.0" encoding="utf-8"?>
<p:tagLst xmlns:p="http://schemas.openxmlformats.org/presentationml/2006/main">
  <p:tag name="KSO_WM_DIAGRAM_VIRTUALLY_FRAME" val="{&quot;height&quot;:352.8,&quot;left&quot;:43.2,&quot;top&quot;:122.4,&quot;width&quot;:871.2}"/>
</p:tagLst>
</file>

<file path=ppt/tags/tag25.xml><?xml version="1.0" encoding="utf-8"?>
<p:tagLst xmlns:p="http://schemas.openxmlformats.org/presentationml/2006/main">
  <p:tag name="KSO_WM_DIAGRAM_VIRTUALLY_FRAME" val="{&quot;height&quot;:352.8,&quot;left&quot;:43.2,&quot;top&quot;:122.4,&quot;width&quot;:871.2}"/>
</p:tagLst>
</file>

<file path=ppt/tags/tag26.xml><?xml version="1.0" encoding="utf-8"?>
<p:tagLst xmlns:p="http://schemas.openxmlformats.org/presentationml/2006/main">
  <p:tag name="KSO_WM_DIAGRAM_VIRTUALLY_FRAME" val="{&quot;height&quot;:352.8,&quot;left&quot;:43.2,&quot;top&quot;:122.4,&quot;width&quot;:871.2}"/>
</p:tagLst>
</file>

<file path=ppt/tags/tag27.xml><?xml version="1.0" encoding="utf-8"?>
<p:tagLst xmlns:p="http://schemas.openxmlformats.org/presentationml/2006/main">
  <p:tag name="KSO_WM_DIAGRAM_VIRTUALLY_FRAME" val="{&quot;height&quot;:352.8,&quot;left&quot;:43.2,&quot;top&quot;:122.4,&quot;width&quot;:871.2}"/>
</p:tagLst>
</file>

<file path=ppt/tags/tag28.xml><?xml version="1.0" encoding="utf-8"?>
<p:tagLst xmlns:p="http://schemas.openxmlformats.org/presentationml/2006/main">
  <p:tag name="KSO_WM_DIAGRAM_VIRTUALLY_FRAME" val="{&quot;height&quot;:352.8,&quot;left&quot;:43.2,&quot;top&quot;:122.4,&quot;width&quot;:871.2}"/>
</p:tagLst>
</file>

<file path=ppt/tags/tag29.xml><?xml version="1.0" encoding="utf-8"?>
<p:tagLst xmlns:p="http://schemas.openxmlformats.org/presentationml/2006/main">
  <p:tag name="KSO_WM_DIAGRAM_VIRTUALLY_FRAME" val="{&quot;height&quot;:352.8,&quot;left&quot;:43.2,&quot;top&quot;:122.4,&quot;width&quot;:871.2}"/>
</p:tagLst>
</file>

<file path=ppt/tags/tag30.xml><?xml version="1.0" encoding="utf-8"?>
<p:tagLst xmlns:p="http://schemas.openxmlformats.org/presentationml/2006/main">
  <p:tag name="KSO_WM_DIAGRAM_VIRTUALLY_FRAME" val="{&quot;height&quot;:352.8,&quot;left&quot;:43.2,&quot;top&quot;:122.4,&quot;width&quot;:871.2}"/>
</p:tagLst>
</file>

<file path=ppt/tags/tag31.xml><?xml version="1.0" encoding="utf-8"?>
<p:tagLst xmlns:p="http://schemas.openxmlformats.org/presentationml/2006/main">
  <p:tag name="KSO_WM_DIAGRAM_VIRTUALLY_FRAME" val="{&quot;height&quot;:352.8,&quot;left&quot;:43.2,&quot;top&quot;:122.4,&quot;width&quot;:871.2}"/>
</p:tagLst>
</file>

<file path=ppt/tags/tag32.xml><?xml version="1.0" encoding="utf-8"?>
<p:tagLst xmlns:p="http://schemas.openxmlformats.org/presentationml/2006/main">
  <p:tag name="KSO_WM_DIAGRAM_VIRTUALLY_FRAME" val="{&quot;height&quot;:352.8,&quot;left&quot;:43.2,&quot;top&quot;:122.4,&quot;width&quot;:871.2}"/>
</p:tagLst>
</file>

<file path=ppt/tags/tag33.xml><?xml version="1.0" encoding="utf-8"?>
<p:tagLst xmlns:p="http://schemas.openxmlformats.org/presentationml/2006/main">
  <p:tag name="KSO_WM_DIAGRAM_VIRTUALLY_FRAME" val="{&quot;height&quot;:352.8,&quot;left&quot;:43.2,&quot;top&quot;:122.4,&quot;width&quot;:871.2}"/>
</p:tagLst>
</file>

<file path=ppt/tags/tag34.xml><?xml version="1.0" encoding="utf-8"?>
<p:tagLst xmlns:p="http://schemas.openxmlformats.org/presentationml/2006/main">
  <p:tag name="KSO_WM_DIAGRAM_VIRTUALLY_FRAME" val="{&quot;height&quot;:352.8,&quot;left&quot;:43.2,&quot;top&quot;:122.4,&quot;width&quot;:871.2}"/>
</p:tagLst>
</file>

<file path=ppt/tags/tag35.xml><?xml version="1.0" encoding="utf-8"?>
<p:tagLst xmlns:p="http://schemas.openxmlformats.org/presentationml/2006/main">
  <p:tag name="KSO_WM_DIAGRAM_VIRTUALLY_FRAME" val="{&quot;height&quot;:352.8,&quot;left&quot;:43.2,&quot;top&quot;:122.4,&quot;width&quot;:871.2}"/>
</p:tagLst>
</file>

<file path=ppt/tags/tag36.xml><?xml version="1.0" encoding="utf-8"?>
<p:tagLst xmlns:p="http://schemas.openxmlformats.org/presentationml/2006/main">
  <p:tag name="KSO_WM_DIAGRAM_VIRTUALLY_FRAME" val="{&quot;height&quot;:352.8,&quot;left&quot;:43.2,&quot;top&quot;:122.4,&quot;width&quot;:871.2}"/>
</p:tagLst>
</file>

<file path=ppt/tags/tag37.xml><?xml version="1.0" encoding="utf-8"?>
<p:tagLst xmlns:p="http://schemas.openxmlformats.org/presentationml/2006/main">
  <p:tag name="KSO_WM_DIAGRAM_VIRTUALLY_FRAME" val="{&quot;height&quot;:352.8,&quot;left&quot;:43.2,&quot;top&quot;:122.4,&quot;width&quot;:871.2}"/>
</p:tagLst>
</file>

<file path=ppt/tags/tag38.xml><?xml version="1.0" encoding="utf-8"?>
<p:tagLst xmlns:p="http://schemas.openxmlformats.org/presentationml/2006/main">
  <p:tag name="KSO_WM_DIAGRAM_VIRTUALLY_FRAME" val="{&quot;height&quot;:352.8,&quot;left&quot;:43.2,&quot;top&quot;:122.4,&quot;width&quot;:871.2}"/>
</p:tagLst>
</file>

<file path=ppt/tags/tag39.xml><?xml version="1.0" encoding="utf-8"?>
<p:tagLst xmlns:p="http://schemas.openxmlformats.org/presentationml/2006/main">
  <p:tag name="KSO_WM_DIAGRAM_VIRTUALLY_FRAME" val="{&quot;height&quot;:352.8,&quot;left&quot;:43.2,&quot;top&quot;:122.4,&quot;width&quot;:871.2}"/>
</p:tagLst>
</file>

<file path=ppt/tags/tag40.xml><?xml version="1.0" encoding="utf-8"?>
<p:tagLst xmlns:p="http://schemas.openxmlformats.org/presentationml/2006/main">
  <p:tag name="KSO_WM_DIAGRAM_VIRTUALLY_FRAME" val="{&quot;height&quot;:352.8,&quot;left&quot;:43.2,&quot;top&quot;:122.4,&quot;width&quot;:871.2}"/>
</p:tagLst>
</file>

<file path=ppt/tags/tag41.xml><?xml version="1.0" encoding="utf-8"?>
<p:tagLst xmlns:p="http://schemas.openxmlformats.org/presentationml/2006/main">
  <p:tag name="KSO_WM_DIAGRAM_VIRTUALLY_FRAME" val="{&quot;height&quot;:352.8,&quot;left&quot;:43.2,&quot;top&quot;:122.4,&quot;width&quot;:871.2}"/>
</p:tagLst>
</file>

<file path=ppt/tags/tag42.xml><?xml version="1.0" encoding="utf-8"?>
<p:tagLst xmlns:p="http://schemas.openxmlformats.org/presentationml/2006/main">
  <p:tag name="KSO_WM_DIAGRAM_VIRTUALLY_FRAME" val="{&quot;height&quot;:352.8,&quot;left&quot;:43.2,&quot;top&quot;:122.4,&quot;width&quot;:871.2}"/>
</p:tagLst>
</file>

<file path=ppt/tags/tag43.xml><?xml version="1.0" encoding="utf-8"?>
<p:tagLst xmlns:p="http://schemas.openxmlformats.org/presentationml/2006/main">
  <p:tag name="KSO_WM_DIAGRAM_VIRTUALLY_FRAME" val="{&quot;height&quot;:352.8,&quot;left&quot;:43.2,&quot;top&quot;:122.4,&quot;width&quot;:871.2}"/>
</p:tagLst>
</file>

<file path=ppt/tags/tag44.xml><?xml version="1.0" encoding="utf-8"?>
<p:tagLst xmlns:p="http://schemas.openxmlformats.org/presentationml/2006/main">
  <p:tag name="KSO_WM_DIAGRAM_VIRTUALLY_FRAME" val="{&quot;height&quot;:352.8,&quot;left&quot;:43.2,&quot;top&quot;:122.4,&quot;width&quot;:871.2}"/>
</p:tagLst>
</file>

<file path=ppt/tags/tag45.xml><?xml version="1.0" encoding="utf-8"?>
<p:tagLst xmlns:p="http://schemas.openxmlformats.org/presentationml/2006/main">
  <p:tag name="KSO_WM_DIAGRAM_VIRTUALLY_FRAME" val="{&quot;height&quot;:352.8,&quot;left&quot;:43.2,&quot;top&quot;:122.4,&quot;width&quot;:871.2}"/>
</p:tagLst>
</file>

<file path=ppt/tags/tag46.xml><?xml version="1.0" encoding="utf-8"?>
<p:tagLst xmlns:p="http://schemas.openxmlformats.org/presentationml/2006/main">
  <p:tag name="KSO_WM_DIAGRAM_VIRTUALLY_FRAME" val="{&quot;height&quot;:352.8,&quot;left&quot;:43.2,&quot;top&quot;:122.4,&quot;width&quot;:871.2}"/>
</p:tagLst>
</file>

<file path=ppt/tags/tag47.xml><?xml version="1.0" encoding="utf-8"?>
<p:tagLst xmlns:p="http://schemas.openxmlformats.org/presentationml/2006/main">
  <p:tag name="KSO_WM_DIAGRAM_VIRTUALLY_FRAME" val="{&quot;height&quot;:352.8,&quot;left&quot;:43.2,&quot;top&quot;:122.4,&quot;width&quot;:871.2}"/>
</p:tagLst>
</file>

<file path=ppt/tags/tag48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49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50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51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52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53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54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55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56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57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58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59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60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61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62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63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64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65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66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67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68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69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70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71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72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73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74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75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76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ags/tag77.xml><?xml version="1.0" encoding="utf-8"?>
<p:tagLst xmlns:p="http://schemas.openxmlformats.org/presentationml/2006/main">
  <p:tag name="KSO_WM_DIAGRAM_VIRTUALLY_FRAME" val="{&quot;height&quot;:363.6,&quot;left&quot;:43.2,&quot;top&quot;:122.4,&quot;width&quot;:871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3211</Words>
  <Application>WPS 演示</Application>
  <PresentationFormat>On-screen Show (16:9)</PresentationFormat>
  <Paragraphs>440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微软雅黑</vt:lpstr>
      <vt:lpstr>Arial</vt:lpstr>
      <vt:lpstr>Calibri</vt:lpstr>
      <vt:lpstr>Arial Unicode MS</vt:lpstr>
      <vt:lpstr>等线</vt:lpstr>
      <vt:lpstr>Microsoft YaHei UI</vt:lpstr>
      <vt:lpstr>仿宋</vt:lpstr>
      <vt:lpstr>MiSans Normal</vt:lpstr>
      <vt:lpstr>MiSans Heavy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基于多Agent协作的AADL模型自动生成系统 - 实习答辩</dc:title>
  <dc:creator>实习学生</dc:creator>
  <dc:subject>实习答辩</dc:subject>
  <cp:lastModifiedBy>sjndn</cp:lastModifiedBy>
  <cp:revision>2</cp:revision>
  <dcterms:created xsi:type="dcterms:W3CDTF">2026-08-28T04:15:00Z</dcterms:created>
  <dcterms:modified xsi:type="dcterms:W3CDTF">2026-08-29T08:41:36Z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72359C1CE43F49E29DD698F31B142953_12</vt:lpwstr>
  </property>
  <property fmtid="{D5CDD505-2E9C-101B-9397-08002B2CF9AE}" pid="3" name="KSOProductBuildVer">
    <vt:lpwstr>2052-12.1.0.21915</vt:lpwstr>
  </property>
</Properties>
</file>