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222222"/>
                </a:solidFill>
              </a:rPr>
              <a:t>受限解码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语法约束 · 语义约束 · 三阶段渐进式生成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14600" y="3383280"/>
            <a:ext cx="1005840" cy="1005840"/>
          </a:xfrm>
          <a:prstGeom prst="ellipse">
            <a:avLst/>
          </a:prstGeom>
          <a:solidFill>
            <a:srgbClr val="D4EDDA"/>
          </a:solidFill>
          <a:ln w="38100">
            <a:solidFill>
              <a:srgbClr val="82C9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3383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3474720"/>
            <a:ext cx="1005840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14600" y="411480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5724"/>
                </a:solidFill>
              </a:rPr>
              <a:t>语法层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3383280"/>
            <a:ext cx="1005840" cy="1005840"/>
          </a:xfrm>
          <a:prstGeom prst="ellipse">
            <a:avLst/>
          </a:prstGeom>
          <a:solidFill>
            <a:srgbClr val="D1ECF1"/>
          </a:solidFill>
          <a:ln w="38100">
            <a:solidFill>
              <a:srgbClr val="7FC5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3383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9080" y="3474720"/>
            <a:ext cx="1005840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069080" y="411480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5460"/>
                </a:solidFill>
              </a:rPr>
              <a:t>FSM 约束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3383280"/>
            <a:ext cx="1005840" cy="1005840"/>
          </a:xfrm>
          <a:prstGeom prst="ellipse">
            <a:avLst/>
          </a:prstGeom>
          <a:solidFill>
            <a:srgbClr val="E2D5F2"/>
          </a:solidFill>
          <a:ln w="38100">
            <a:solidFill>
              <a:srgbClr val="B39D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3383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3474720"/>
            <a:ext cx="1005840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23560" y="411480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35A"/>
                </a:solidFill>
              </a:rPr>
              <a:t>语义保证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kern="0" spc="150" dirty="0">
                <a:solidFill>
                  <a:srgbClr val="222222"/>
                </a:solidFill>
              </a:rPr>
              <a:t>语法约束解码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JSON Schema + llguidance FSM · 逐 Token 保证格式正确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0" y="10515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1ECF1"/>
          </a:solidFill>
          <a:ln w="12700">
            <a:solidFill>
              <a:srgbClr val="7FC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9610" y="96901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5460"/>
                </a:solidFill>
              </a:rPr>
              <a:t>📐 语法层约束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34765" y="124333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2D5F2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05156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235A"/>
                </a:solidFill>
              </a:rPr>
              <a:t>🔄 有限状态自动机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10515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0B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05156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5100"/>
                </a:solidFill>
              </a:rPr>
              <a:t>🎯 Logits 过滤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1554480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D4EDDA"/>
          </a:solidFill>
          <a:ln w="25400">
            <a:solidFill>
              <a:srgbClr val="82C997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164592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17320" y="1645920"/>
            <a:ext cx="3108960" cy="255118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5724"/>
                </a:solidFill>
              </a:rPr>
              <a:t>自然语言需求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1849283"/>
            <a:ext cx="3108960" cy="2267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55724"/>
                </a:solidFill>
              </a:rPr>
              <a:t>"设计一个飞行控制系统"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83764" y="2093976"/>
            <a:ext cx="27432" cy="179222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 flipV="1">
            <a:off x="2569464" y="2267712"/>
            <a:ext cx="256032" cy="140818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450592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D1ECF1"/>
          </a:solidFill>
          <a:ln w="25400">
            <a:solidFill>
              <a:srgbClr val="7FC5D4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254203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17320" y="2542032"/>
            <a:ext cx="3108960" cy="255118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C5460"/>
                </a:solidFill>
              </a:rPr>
              <a:t>Prompt + JSON Schema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2745395"/>
            <a:ext cx="3108960" cy="2267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C5460"/>
                </a:solidFill>
              </a:rPr>
              <a:t>定义输出结构：字段名、类型、枚举值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83764" y="2990088"/>
            <a:ext cx="27432" cy="179222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 flipV="1">
            <a:off x="2569464" y="3163824"/>
            <a:ext cx="256032" cy="140818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346704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F9F9F9"/>
          </a:solidFill>
          <a:ln w="25400">
            <a:solidFill>
              <a:srgbClr val="88888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616202" y="3182112"/>
            <a:ext cx="2162556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16202" y="3182112"/>
            <a:ext cx="216255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5555"/>
                </a:solidFill>
              </a:rPr>
              <a:t>🤖 LLM + llguidance 约束解码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3621024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6758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</a:rPr>
              <a:t>🧠 模型生成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91363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输出候选 Token logits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87752" y="3712464"/>
            <a:ext cx="21945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</a:rPr>
              <a:t>+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834640" y="3621024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6758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</a:rPr>
              <a:t>🔒 FSM 约束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80360" y="391363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只放行语法合法 Token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83764" y="4553712"/>
            <a:ext cx="27432" cy="179222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0800000" flipV="1">
            <a:off x="2569464" y="4727448"/>
            <a:ext cx="256032" cy="140818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910328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E2D5F2"/>
          </a:solidFill>
          <a:ln w="25400">
            <a:solidFill>
              <a:srgbClr val="B39DDB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1248" y="500176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417320" y="5001768"/>
            <a:ext cx="3108960" cy="255118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</a:rPr>
              <a:t>结构化 JSON 输出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17320" y="5205131"/>
            <a:ext cx="3108960" cy="2267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A235A"/>
                </a:solidFill>
              </a:rPr>
              <a:t>100% 格式合法，字段类型正确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150876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9F9F9"/>
          </a:solidFill>
          <a:ln w="254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15819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</a:rPr>
              <a:t>🔄 FSM 前缀自动机原理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06440" y="1947672"/>
            <a:ext cx="347472" cy="347472"/>
          </a:xfrm>
          <a:prstGeom prst="ellipse">
            <a:avLst/>
          </a:prstGeom>
          <a:solidFill>
            <a:srgbClr val="D1ECF1"/>
          </a:solidFill>
          <a:ln w="38100">
            <a:solidFill>
              <a:srgbClr val="7FC5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1947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35624" y="1965960"/>
            <a:ext cx="1280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45352" y="1947672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1947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74536" y="1965960"/>
            <a:ext cx="1280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684264" y="1947672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84264" y="1947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13448" y="1965960"/>
            <a:ext cx="1280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123176" y="1947672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23176" y="1947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52360" y="1965960"/>
            <a:ext cx="1280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562088" y="1947672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62088" y="1947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66360" y="2240280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每生成一个 Token，状态机前进一步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只允许合法状态的 Token 被选中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0" y="2770632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66360" y="28254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✅ 语法约束能保证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212080" y="3118104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•  字段类型正确（string / number / object）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•  枚举值在合法集合内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•  必填字段不会缺失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•  数组元素结构一致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0" y="393192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FFEBEE"/>
          </a:solidFill>
          <a:ln w="25400">
            <a:solidFill>
              <a:srgbClr val="EF9A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66360" y="398678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❌ 语法约束不能保证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212080" y="427939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</a:rPr>
              <a:t>•  子组件类别符合包含规则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</a:rPr>
              <a:t>•  分类器引用真实存在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</a:rPr>
              <a:t>•  连接端口方向正确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</a:rPr>
              <a:t>•  连接两端数据类型匹配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321040" y="485089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kern="0" spc="150" dirty="0">
                <a:solidFill>
                  <a:srgbClr val="222222"/>
                </a:solidFill>
              </a:rPr>
              <a:t>语义约束解码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三阶段渐进式生成 · 动态枚举约束 · 生成时保证语义正确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08660" y="1143000"/>
            <a:ext cx="2423160" cy="3246120"/>
          </a:xfrm>
          <a:prstGeom prst="roundRect">
            <a:avLst>
              <a:gd name="adj" fmla="val 4528"/>
            </a:avLst>
          </a:prstGeom>
          <a:ln w="25400">
            <a:solidFill>
              <a:srgbClr val="66BB6A"/>
            </a:solidFill>
            <a:prstDash val="solid"/>
          </a:ln>
          <a:effectLst>
            <a:outerShdw blurRad="76200" dist="381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100584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B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1005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BB6A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0100" y="15087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BB6A"/>
                </a:solidFill>
              </a:rPr>
              <a:t>类型与实现骨架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" y="1819656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定义所有组件类型 + 实现空壳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0100" y="2148840"/>
            <a:ext cx="22402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" y="2185416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📦 生成内容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" y="2395728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包名、with 包、所有组件类型（端口 / access / flow）、实现骨架（base_type）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0100" y="2715768"/>
            <a:ext cx="22402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" y="2752344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🔒 约束方式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3252" y="2962656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JSON Schema 格式约束 + category 枚举约束（14 种类型）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0100" y="3282696"/>
            <a:ext cx="22402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" y="3319272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📊 产出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3252" y="3529584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类型表：类型名 + 端口表 + 类别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实现表：实现名 + base_type 映射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0100" y="3849624"/>
            <a:ext cx="2240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25400">
            <a:solidFill>
              <a:srgbClr val="66BB6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73252" y="3886200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🎯 为阶段2提供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3252" y="4096512"/>
            <a:ext cx="2093976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分类器枚举 = 所有已定义类型名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每类别可选分类器列表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08960" y="25831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AAAAA"/>
                </a:solidFill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360420" y="1143000"/>
            <a:ext cx="2423160" cy="3246120"/>
          </a:xfrm>
          <a:prstGeom prst="roundRect">
            <a:avLst>
              <a:gd name="adj" fmla="val 4528"/>
            </a:avLst>
          </a:prstGeom>
          <a:ln w="25400">
            <a:solidFill>
              <a:srgbClr val="42A5F5"/>
            </a:solidFill>
            <a:prstDash val="solid"/>
          </a:ln>
          <a:effectLst>
            <a:outerShdw blurRad="76200" dist="381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100584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2A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1005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2A5F5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51860" y="15087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2A5F5"/>
                </a:solidFill>
              </a:rPr>
              <a:t>子组件填充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51860" y="1819656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按类别分组 · 包含规则约束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51860" y="2148840"/>
            <a:ext cx="22402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5012" y="2185416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📦 生成内容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5012" y="2395728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每个实现的 subcomponents（按类别分组：threads / processes / buses...）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51860" y="2715768"/>
            <a:ext cx="22402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5012" y="2752344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🔒 约束方式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5012" y="2962656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动态 Schema，每组 classifier 枚举只含对应类别类型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51860" y="3282696"/>
            <a:ext cx="22402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5012" y="3319272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✅ 生成时保证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25012" y="3529584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① 包含规则：只有允许的类别有分组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② 引用完整：classifier 必为已定义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③ category 与 classifier 一致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51860" y="3849624"/>
            <a:ext cx="2240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25400">
            <a:solidFill>
              <a:srgbClr val="42A5F5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3525012" y="3886200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🎯 为阶段3提供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5012" y="4096512"/>
            <a:ext cx="2093976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完整端口表（子组件 × 端口）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子组件名 → 类别映射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60720" y="25831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AAAAA"/>
                </a:solidFill>
              </a:rPr>
              <a:t>→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6012180" y="1143000"/>
            <a:ext cx="2423160" cy="3246120"/>
          </a:xfrm>
          <a:prstGeom prst="roundRect">
            <a:avLst>
              <a:gd name="adj" fmla="val 4528"/>
            </a:avLst>
          </a:prstGeom>
          <a:ln w="25400">
            <a:solidFill>
              <a:srgbClr val="AB47BC"/>
            </a:solidFill>
            <a:prstDash val="solid"/>
          </a:ln>
          <a:effectLst>
            <a:outerShdw blurRad="76200" dist="381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95160" y="100584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B47B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5160" y="1005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B47BC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103620" y="15087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B47BC"/>
                </a:solidFill>
              </a:rPr>
              <a:t>连接与绑定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03620" y="1819656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按类型分组连接 · 端口方向约束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03620" y="2148840"/>
            <a:ext cx="22402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6772" y="2185416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📦 生成内容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6772" y="2395728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connections（按数据类型分组）+ bindings + flows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03620" y="2715768"/>
            <a:ext cx="22402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6772" y="2752344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🔒 约束方式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76772" y="2962656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source/target 枚举 = 真实端口引用，按方向和类型分组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03620" y="3282696"/>
            <a:ext cx="22402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6772" y="3319272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✅ 生成时保证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76772" y="3529584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① 端口引用存在性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② 端口方向正确（out → in）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③ 连接两端类型匹配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④ bus 绑定目标合法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03620" y="3849624"/>
            <a:ext cx="2240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25400">
            <a:solidFill>
              <a:srgbClr val="AB47BC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6176772" y="3886200"/>
            <a:ext cx="209397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🏁 最终输出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76772" y="4096512"/>
            <a:ext cx="2093976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合并为完整架构 JSON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核心语义生成时即保证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08660" y="4553712"/>
            <a:ext cx="3726180" cy="548640"/>
          </a:xfrm>
          <a:prstGeom prst="roundRect">
            <a:avLst>
              <a:gd name="adj" fmla="val 16667"/>
            </a:avLst>
          </a:prstGeom>
          <a:solidFill>
            <a:srgbClr val="FFEBEE"/>
          </a:solidFill>
          <a:ln w="25400">
            <a:solidFill>
              <a:srgbClr val="EF9A9A"/>
            </a:solidFill>
            <a:prstDash val="solid"/>
          </a:ln>
          <a:effectLst>
            <a:outerShdw blurRad="508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45820" y="4608576"/>
            <a:ext cx="34518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😵 单阶段生成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45820" y="4828032"/>
            <a:ext cx="34518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语义错误靠后处理修复，引用完整性无法保证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09160" y="4553712"/>
            <a:ext cx="372618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  <a:effectLst>
            <a:outerShdw blurRad="508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846320" y="4608576"/>
            <a:ext cx="34518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✅ 三阶段渐进式生成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846320" y="4828032"/>
            <a:ext cx="34518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核心语义生成时即保证，不需后处理修复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321040" y="485089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1225</Words>
  <Application>WPS 演示</Application>
  <PresentationFormat>On-screen Show (16:9)</PresentationFormat>
  <Paragraphs>188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sjndn</cp:lastModifiedBy>
  <cp:revision>2</cp:revision>
  <dcterms:created xsi:type="dcterms:W3CDTF">2026-10-26T06:54:00Z</dcterms:created>
  <dcterms:modified xsi:type="dcterms:W3CDTF">2026-10-26T07:58:22Z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9AB95F8339AE4AA7B1EA7B3513336EF3_12</vt:lpwstr>
  </property>
  <property fmtid="{D5CDD505-2E9C-101B-9397-08002B2CF9AE}" pid="3" name="KSOProductBuildVer">
    <vt:lpwstr>2052-12.1.0.21915</vt:lpwstr>
  </property>
</Properties>
</file>