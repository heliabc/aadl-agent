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60" r:id="rId4"/>
    <p:sldId id="258" r:id="rId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kern="0" spc="120" dirty="0">
                <a:solidFill>
                  <a:srgbClr val="222222"/>
                </a:solidFill>
              </a:rPr>
              <a:t>语法约束解码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Lark EBNF 语法 · Outlines + llguidance · 逐 Token 保证 AADL 语法正确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011680" y="9601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1ECF1"/>
          </a:solidFill>
          <a:ln w="12700">
            <a:solidFill>
              <a:srgbClr val="7FC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96012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5460"/>
                </a:solidFill>
              </a:rPr>
              <a:t>📐 EBNF 文法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794760" y="9601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2D5F2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96012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235A"/>
                </a:solidFill>
              </a:rPr>
              <a:t>🔄 CFG 状态机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E0B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96012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5100"/>
                </a:solidFill>
              </a:rPr>
              <a:t>🎯 Logits 过滤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3840480" cy="475488"/>
          </a:xfrm>
          <a:prstGeom prst="roundRect">
            <a:avLst>
              <a:gd name="adj" fmla="val 23077"/>
            </a:avLst>
          </a:prstGeom>
          <a:solidFill>
            <a:srgbClr val="D4EDDA"/>
          </a:solidFill>
          <a:ln w="25400">
            <a:solidFill>
              <a:srgbClr val="82C997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147218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1472184"/>
            <a:ext cx="3017520" cy="22823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55724"/>
                </a:solidFill>
              </a:rPr>
              <a:t>自然语言需求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1678838"/>
            <a:ext cx="3017520" cy="1901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55724"/>
                </a:solidFill>
              </a:rPr>
              <a:t>"生成飞行控制系统 AADL 代码"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49347" y="1892935"/>
            <a:ext cx="21946" cy="10972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478024" y="2002663"/>
            <a:ext cx="164592" cy="9144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130552"/>
            <a:ext cx="3840480" cy="475488"/>
          </a:xfrm>
          <a:prstGeom prst="roundRect">
            <a:avLst>
              <a:gd name="adj" fmla="val 23077"/>
            </a:avLst>
          </a:prstGeom>
          <a:solidFill>
            <a:srgbClr val="D1ECF1"/>
          </a:solidFill>
          <a:ln w="25400">
            <a:solidFill>
              <a:srgbClr val="7FC5D4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2185416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2185416"/>
            <a:ext cx="3017520" cy="22823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C5460"/>
                </a:solidFill>
              </a:rPr>
              <a:t>Lark EBNF 语法文件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392070"/>
            <a:ext cx="3017520" cy="1901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C5460"/>
                </a:solidFill>
              </a:rPr>
              <a:t>aadl_core.lark — 定义 AADL 文法规则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49347" y="2587752"/>
            <a:ext cx="21946" cy="10972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478024" y="2697480"/>
            <a:ext cx="164592" cy="9144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843784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F9F9F9"/>
          </a:solidFill>
          <a:ln w="25400">
            <a:solidFill>
              <a:srgbClr val="88888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504188" y="2688336"/>
            <a:ext cx="2112264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4188" y="2688336"/>
            <a:ext cx="211226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55555"/>
                </a:solidFill>
              </a:rPr>
              <a:t>🤖 Outlines + llguidance 约束解码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3099816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145536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333"/>
                </a:solidFill>
              </a:rPr>
              <a:t>🧠 LLM 生成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" y="340156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输出候选 Token logits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68880" y="3191256"/>
            <a:ext cx="182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AAAAA"/>
                </a:solidFill>
              </a:rPr>
              <a:t>+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651760" y="3099816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145536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333"/>
                </a:solidFill>
              </a:rPr>
              <a:t>🔒 CFG 约束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697480" y="340156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只放行语法合法 Token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49347" y="3877056"/>
            <a:ext cx="21946" cy="10972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2478024" y="3986784"/>
            <a:ext cx="164592" cy="9144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133088"/>
            <a:ext cx="3840480" cy="475488"/>
          </a:xfrm>
          <a:prstGeom prst="roundRect">
            <a:avLst>
              <a:gd name="adj" fmla="val 23077"/>
            </a:avLst>
          </a:prstGeom>
          <a:solidFill>
            <a:srgbClr val="E2D5F2"/>
          </a:solidFill>
          <a:ln w="25400">
            <a:solidFill>
              <a:srgbClr val="B39DDB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9808" y="418795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325880" y="4187952"/>
            <a:ext cx="3017520" cy="22823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A235A"/>
                </a:solidFill>
              </a:rPr>
              <a:t>AADL 代码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25880" y="4394606"/>
            <a:ext cx="3017520" cy="1901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A235A"/>
                </a:solidFill>
              </a:rPr>
              <a:t>100% 语法正确，结构合法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141732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F9F9F9"/>
          </a:solidFill>
          <a:ln w="254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49047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3333"/>
                </a:solidFill>
              </a:rPr>
              <a:t>🔄 CFG 前缀自动机原理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638927" y="1828800"/>
            <a:ext cx="347472" cy="347472"/>
          </a:xfrm>
          <a:prstGeom prst="ellipse">
            <a:avLst/>
          </a:prstGeom>
          <a:solidFill>
            <a:srgbClr val="D1ECF1"/>
          </a:solidFill>
          <a:ln w="38100">
            <a:solidFill>
              <a:srgbClr val="7FC5D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638927" y="18288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15635" y="1856105"/>
            <a:ext cx="6540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 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21273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1273" y="18288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73952" y="1855851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65519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900" y="1828800"/>
            <a:ext cx="347345" cy="3473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13118" y="1855851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040880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18288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41540" y="1856105"/>
            <a:ext cx="4095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506716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06716" y="18288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✓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74920" y="2176145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每生成一个 Token，状态机前进一步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只允许语法合法的 Token 被选中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37760" y="2679192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4920" y="2724912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✅ 语法约束能保证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120640" y="2990088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• 关键字、标识符、字面量格式正确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• 组件 / 端口 / 连接结构完整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• 括号配对、分号结尾等格式正确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937760" y="3694176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FFEBEE"/>
          </a:solidFill>
          <a:ln w="25400">
            <a:solidFill>
              <a:srgbClr val="EF9A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74920" y="3739896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C62828"/>
                </a:solidFill>
              </a:rPr>
              <a:t>❌ 语法约束不能保证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5120640" y="4005072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</a:rPr>
              <a:t>• 子组件类别符合包含规则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</a:rPr>
              <a:t>• 分类器引用真实存在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</a:rPr>
              <a:t>• 连接端口方向 / 类型匹配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321040" y="48691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kern="0" spc="120" dirty="0">
                <a:solidFill>
                  <a:srgbClr val="222222"/>
                </a:solidFill>
              </a:rPr>
              <a:t>语义约束解码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1645" y="704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三阶段渐进式生成 · 动态 Schema 枚举约束 · 生成时即保证语义正确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FF8E1"/>
          </a:solidFill>
          <a:ln w="25400">
            <a:solidFill>
              <a:srgbClr val="FFB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96696"/>
            <a:ext cx="795528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65100"/>
                </a:solidFill>
              </a:rPr>
              <a:t>💡  核心思想：每阶段 Schema 基于前一阶段结果动态构建，把语义约束编码进 enum，约束解码让模型只能选合法值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2900" y="150876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3F2FD"/>
          </a:solidFill>
          <a:ln w="25400">
            <a:solidFill>
              <a:srgbClr val="42A5F5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26464" y="1362456"/>
            <a:ext cx="438912" cy="438912"/>
          </a:xfrm>
          <a:prstGeom prst="ellipse">
            <a:avLst/>
          </a:prstGeom>
          <a:solidFill>
            <a:srgbClr val="42A5F5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6464" y="136245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4340" y="178308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76D2"/>
                </a:solidFill>
              </a:rPr>
              <a:t>阶段一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" y="1987677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包 + 类型 + 实现骨架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" y="2207387"/>
            <a:ext cx="2057400" cy="1371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" y="2258695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976D2"/>
                </a:solidFill>
              </a:rPr>
              <a:t>🔹 生成所有组件类型和实现骨架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" y="2496820"/>
            <a:ext cx="238658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907" y="2496820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1812" y="249682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type_components + impl_components 分离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073" y="2819146"/>
            <a:ext cx="238658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" y="2916936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🏷️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1812" y="2819146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category 限定枚举值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2755" y="3141345"/>
            <a:ext cx="23863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42A5F5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25907" y="314147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3397" y="314147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base_type 引用类型名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073" y="3458083"/>
            <a:ext cx="238658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" y="3415538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4507" y="3458083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端口方向/类型枚举约束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073" y="3740912"/>
            <a:ext cx="2386584" cy="237744"/>
          </a:xfrm>
          <a:prstGeom prst="roundRect">
            <a:avLst>
              <a:gd name="adj" fmla="val 19231"/>
            </a:avLst>
          </a:prstGeom>
          <a:solidFill>
            <a:srgbClr val="1976D2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80944" y="2578608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2A5F5"/>
                </a:solidFill>
              </a:rPr>
              <a:t>➜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268980" y="150876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3E5F5"/>
          </a:solidFill>
          <a:ln w="25400">
            <a:solidFill>
              <a:srgbClr val="AB47BC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52544" y="1362456"/>
            <a:ext cx="438912" cy="438912"/>
          </a:xfrm>
          <a:prstGeom prst="ellipse">
            <a:avLst/>
          </a:prstGeom>
          <a:solidFill>
            <a:srgbClr val="AB47BC"/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52544" y="136245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360420" y="178308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1FA2"/>
                </a:solidFill>
              </a:rPr>
              <a:t>阶段二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60420" y="1987677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子组件（分类器约束）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43300" y="2221357"/>
            <a:ext cx="2057400" cy="13716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3445" y="2258695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B1FA2"/>
                </a:solidFill>
              </a:rPr>
              <a:t>🔹 为每个实现填充子组件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78708" y="2496820"/>
            <a:ext cx="238658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33572" y="2496820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📂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07892" y="249682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子组件按类别分组（systems/threads/...）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78708" y="2819146"/>
            <a:ext cx="238658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33572" y="2819146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89477" y="2819146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父类别决定允许的子组件类别 → 包含规则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78708" y="3141472"/>
            <a:ext cx="238658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33572" y="314147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🔗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07892" y="314147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classifier 枚举 = 对应类别类型名 → 引用完整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378708" y="3733292"/>
            <a:ext cx="2386584" cy="237744"/>
          </a:xfrm>
          <a:prstGeom prst="roundRect">
            <a:avLst>
              <a:gd name="adj" fmla="val 19231"/>
            </a:avLst>
          </a:prstGeom>
          <a:solidFill>
            <a:srgbClr val="7B1FA2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33572" y="3732657"/>
            <a:ext cx="227685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chemeClr val="bg1">
                    <a:lumMod val="75000"/>
                  </a:schemeClr>
                </a:solidFill>
              </a:rPr>
              <a:t>📤 输出：所有实现的子组件实例</a:t>
            </a:r>
            <a:endParaRPr lang="en-US" sz="85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5907024" y="2578608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B47BC"/>
                </a:solidFill>
              </a:rPr>
              <a:t>➜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6195060" y="150876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66BB6A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278624" y="1362456"/>
            <a:ext cx="438912" cy="438912"/>
          </a:xfrm>
          <a:prstGeom prst="ellipse">
            <a:avLst/>
          </a:prstGeom>
          <a:solidFill>
            <a:srgbClr val="66BB6A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78624" y="136245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286500" y="178308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阶段三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286500" y="1987677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连接 + 绑定 + 流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46520" y="2207387"/>
            <a:ext cx="2057400" cy="13716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32220" y="2258695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🔹 填充连接、绑定、端到端流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4788" y="2496820"/>
            <a:ext cx="238658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32347" y="2496820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🔌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633972" y="249682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连接按数据类型分组 → 类型匹配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300343" y="2819146"/>
            <a:ext cx="238658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9652" y="2916936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↔️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615557" y="2819146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source 选 out 端口，target 选 in 端口 → 方向匹配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304788" y="3141472"/>
            <a:ext cx="238658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9652" y="314147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🚌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633972" y="314147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bound_to_bus 枚举 = bus 子组件 → 合法绑定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304788" y="3466338"/>
            <a:ext cx="238658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 flipH="1">
            <a:off x="6250305" y="3458210"/>
            <a:ext cx="4737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🎯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615557" y="3465703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binding target 枚举 = 子组件名 → 合法目标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304788" y="3732657"/>
            <a:ext cx="2386584" cy="237744"/>
          </a:xfrm>
          <a:prstGeom prst="roundRect">
            <a:avLst>
              <a:gd name="adj" fmla="val 19231"/>
            </a:avLst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59652" y="3741547"/>
            <a:ext cx="227685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chemeClr val="bg1">
                    <a:lumMod val="75000"/>
                  </a:schemeClr>
                </a:solidFill>
              </a:rPr>
              <a:t>📤 输出：完整的 AADL 架构</a:t>
            </a:r>
            <a:r>
              <a:rPr lang="en-US" sz="850" b="1" dirty="0">
                <a:solidFill>
                  <a:srgbClr val="2E7D32"/>
                </a:solidFill>
              </a:rPr>
              <a:t> JSON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57200" y="4142232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  <a:effectLst>
            <a:outerShdw blurRad="508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40080" y="4187952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32"/>
                </a:solidFill>
              </a:rPr>
              <a:t>🏆  语义约束编码进动态 Schema + 约束解码 = 生成时即保证语义正确，无需后置校验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8321040" y="48691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 /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2882" y="3740277"/>
            <a:ext cx="227685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chemeClr val="bg1">
                    <a:lumMod val="75000"/>
                  </a:schemeClr>
                </a:solidFill>
              </a:rPr>
              <a:t>📤 输出：完整类型定义 + 空实现</a:t>
            </a:r>
            <a:r>
              <a:rPr lang="en-US" sz="850" b="1" dirty="0">
                <a:solidFill>
                  <a:srgbClr val="1976D2"/>
                </a:solidFill>
              </a:rPr>
              <a:t>骨架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</Words>
  <Application>WPS 演示</Application>
  <PresentationFormat>On-screen Show (16:9)</PresentationFormat>
  <Paragraphs>165</Paragraphs>
  <Slides>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Office Theme</vt:lpstr>
      <vt:lpstr>1_Office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sjndn</cp:lastModifiedBy>
  <cp:revision>2</cp:revision>
  <dcterms:created xsi:type="dcterms:W3CDTF">2026-10-26T07:36:00Z</dcterms:created>
  <dcterms:modified xsi:type="dcterms:W3CDTF">2026-10-26T07:58:15Z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9E531C54F22B4C6A97C31F3CA35A0301_12</vt:lpwstr>
  </property>
  <property fmtid="{D5CDD505-2E9C-101B-9397-08002B2CF9AE}" pid="3" name="KSOProductBuildVer">
    <vt:lpwstr>2052-12.1.0.21915</vt:lpwstr>
  </property>
</Properties>
</file>