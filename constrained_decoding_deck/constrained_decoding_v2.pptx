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9" r:id="rId7"/>
    <p:sldId id="258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46304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222222"/>
                </a:solidFill>
              </a:rPr>
              <a:t>受限解码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777777"/>
                </a:solidFill>
              </a:rPr>
              <a:t>语法约束 · 语义约束 · 两阶段渐进式生成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697480" y="3383280"/>
            <a:ext cx="914400" cy="914400"/>
          </a:xfrm>
          <a:prstGeom prst="ellipse">
            <a:avLst/>
          </a:prstGeom>
          <a:solidFill>
            <a:srgbClr val="D4EDDA"/>
          </a:solidFill>
          <a:ln w="38100">
            <a:solidFill>
              <a:srgbClr val="82C9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97480" y="3383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97480" y="3474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97480" y="4059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5724"/>
                </a:solidFill>
              </a:rPr>
              <a:t>EBNF 语法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3383280"/>
            <a:ext cx="914400" cy="914400"/>
          </a:xfrm>
          <a:prstGeom prst="ellipse">
            <a:avLst/>
          </a:prstGeom>
          <a:solidFill>
            <a:srgbClr val="D1ECF1"/>
          </a:solidFill>
          <a:ln w="38100">
            <a:solidFill>
              <a:srgbClr val="7FC5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383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3474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0" y="4059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5460"/>
                </a:solidFill>
              </a:rPr>
              <a:t>FSM 约束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3383280"/>
            <a:ext cx="914400" cy="914400"/>
          </a:xfrm>
          <a:prstGeom prst="ellipse">
            <a:avLst/>
          </a:prstGeom>
          <a:solidFill>
            <a:srgbClr val="E2D5F2"/>
          </a:solidFill>
          <a:ln w="38100">
            <a:solidFill>
              <a:srgbClr val="B39D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383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3474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532120" y="4059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235A"/>
                </a:solidFill>
              </a:rPr>
              <a:t>语义保证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kern="0" spc="120" dirty="0">
                <a:solidFill>
                  <a:srgbClr val="222222"/>
                </a:solidFill>
              </a:rPr>
              <a:t>语法约束解码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Lark EBNF 语法 · Outlines + llguidance · 逐 Token 保证 AADL 语法正确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1ECF1"/>
          </a:solidFill>
          <a:ln w="12700">
            <a:solidFill>
              <a:srgbClr val="7FC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9601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5460"/>
                </a:solidFill>
              </a:rPr>
              <a:t>📐 EBNF 文法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79476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2D5F2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9601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235A"/>
                </a:solidFill>
              </a:rPr>
              <a:t>🔄 CFG 状态机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0B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9601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5100"/>
                </a:solidFill>
              </a:rPr>
              <a:t>🎯 Logits 过滤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D4EDDA"/>
          </a:solidFill>
          <a:ln w="25400">
            <a:solidFill>
              <a:srgbClr val="82C997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14721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1472184"/>
            <a:ext cx="3017520" cy="22823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5724"/>
                </a:solidFill>
              </a:rPr>
              <a:t>自然语言需求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1678838"/>
            <a:ext cx="3017520" cy="1901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55724"/>
                </a:solidFill>
              </a:rPr>
              <a:t>"生成飞行控制系统 AADL 代码"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49347" y="1892935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478024" y="2002663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130552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D1ECF1"/>
          </a:solidFill>
          <a:ln w="25400">
            <a:solidFill>
              <a:srgbClr val="7FC5D4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218541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2185416"/>
            <a:ext cx="3017520" cy="22823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C5460"/>
                </a:solidFill>
              </a:rPr>
              <a:t>Lark EBNF 语法文件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392070"/>
            <a:ext cx="3017520" cy="1901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C5460"/>
                </a:solidFill>
              </a:rPr>
              <a:t>aadl_core.lark — 定义 AADL 文法规则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49347" y="2587752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478024" y="2697480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843784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F9F9F9"/>
          </a:solidFill>
          <a:ln w="25400">
            <a:solidFill>
              <a:srgbClr val="88888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504188" y="2688336"/>
            <a:ext cx="2112264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4188" y="2688336"/>
            <a:ext cx="211226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5555"/>
                </a:solidFill>
              </a:rPr>
              <a:t>🤖 Outlines + llguidance 约束解码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09981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14553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333"/>
                </a:solidFill>
              </a:rPr>
              <a:t>🧠 LLM 生成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" y="3401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输出候选 Token logits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3191256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</a:rPr>
              <a:t>+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651760" y="309981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14553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333"/>
                </a:solidFill>
              </a:rPr>
              <a:t>🔒 CFG 约束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97480" y="3401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只放行语法合法 Token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49347" y="3877056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478024" y="3986784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133088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E2D5F2"/>
          </a:solidFill>
          <a:ln w="25400">
            <a:solidFill>
              <a:srgbClr val="B39DDB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" y="418795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25880" y="4187952"/>
            <a:ext cx="3017520" cy="22823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</a:rPr>
              <a:t>AADL 代码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25880" y="4394606"/>
            <a:ext cx="3017520" cy="1901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A235A"/>
                </a:solidFill>
              </a:rPr>
              <a:t>100% 语法正确，结构合法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141732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F9F9F9"/>
          </a:solidFill>
          <a:ln w="254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49047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3333"/>
                </a:solidFill>
              </a:rPr>
              <a:t>🔄 CFG 前缀自动机原理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638927" y="1828800"/>
            <a:ext cx="347472" cy="347472"/>
          </a:xfrm>
          <a:prstGeom prst="ellipse">
            <a:avLst/>
          </a:prstGeom>
          <a:solidFill>
            <a:srgbClr val="D1ECF1"/>
          </a:solidFill>
          <a:ln w="38100">
            <a:solidFill>
              <a:srgbClr val="7FC5D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638927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15635" y="1856105"/>
            <a:ext cx="6540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 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21273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1273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73952" y="1855851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65519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900" y="1828800"/>
            <a:ext cx="347345" cy="3473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13118" y="1855851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040880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41540" y="1856105"/>
            <a:ext cx="4095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506716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06716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74920" y="2176145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每生成一个 Token，状态机前进一步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只允许语法合法的 Token 被选中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37760" y="2679192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2724912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✅ 语法约束能保证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120640" y="2990088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• 关键字、标识符、字面量格式正确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• 组件 / 端口 / 连接结构完整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• 括号配对、分号结尾等格式正确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937760" y="3694176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FFEBEE"/>
          </a:solidFill>
          <a:ln w="25400">
            <a:solidFill>
              <a:srgbClr val="EF9A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3739896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</a:rPr>
              <a:t>❌ 语法约束不能保证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120640" y="4005072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• 子组件类别符合包含规则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• 分类器引用真实存在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• 连接端口方向 / 类型匹配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321040" y="48691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kern="0" spc="120" dirty="0">
                <a:solidFill>
                  <a:srgbClr val="222222"/>
                </a:solidFill>
              </a:rPr>
              <a:t>语法约束解码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Lark EBNF 语法 · Outlines + llguidance · 逐 Token 保证 AADL 语法正确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1ECF1"/>
          </a:solidFill>
          <a:ln w="12700">
            <a:solidFill>
              <a:srgbClr val="7FC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9601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5460"/>
                </a:solidFill>
              </a:rPr>
              <a:t>📐 EBNF 文法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79476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2D5F2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9601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235A"/>
                </a:solidFill>
              </a:rPr>
              <a:t>🔄 CFG 状态机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0B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9601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5100"/>
                </a:solidFill>
              </a:rPr>
              <a:t>🎯 Logits 过滤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D4EDDA"/>
          </a:solidFill>
          <a:ln w="25400">
            <a:solidFill>
              <a:srgbClr val="82C997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14721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1472184"/>
            <a:ext cx="3017520" cy="22823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5724"/>
                </a:solidFill>
              </a:rPr>
              <a:t>自然语言需求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1678838"/>
            <a:ext cx="3017520" cy="1901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55724"/>
                </a:solidFill>
              </a:rPr>
              <a:t>"生成飞行控制系统 AADL 代码"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49347" y="1892935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478024" y="2002663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130552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D1ECF1"/>
          </a:solidFill>
          <a:ln w="25400">
            <a:solidFill>
              <a:srgbClr val="7FC5D4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218541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2185416"/>
            <a:ext cx="3017520" cy="22823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C5460"/>
                </a:solidFill>
              </a:rPr>
              <a:t>Lark EBNF 语法文件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392070"/>
            <a:ext cx="3017520" cy="1901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C5460"/>
                </a:solidFill>
              </a:rPr>
              <a:t>aadl_core.lark — 定义 AADL 文法规则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49347" y="2587752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478024" y="2697480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843784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F9F9F9"/>
          </a:solidFill>
          <a:ln w="25400">
            <a:solidFill>
              <a:srgbClr val="88888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504188" y="2688336"/>
            <a:ext cx="2112264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4188" y="2688336"/>
            <a:ext cx="211226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5555"/>
                </a:solidFill>
              </a:rPr>
              <a:t>🤖 Outlines + llguidance 约束解码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09981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14553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333"/>
                </a:solidFill>
              </a:rPr>
              <a:t>🧠 LLM 生成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" y="3401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输出候选 Token logits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3191256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</a:rPr>
              <a:t>+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651760" y="309981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14553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333"/>
                </a:solidFill>
              </a:rPr>
              <a:t>🔒 CFG 约束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97480" y="340156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只放行语法合法 Token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49347" y="3877056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478024" y="3986784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133088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E2D5F2"/>
          </a:solidFill>
          <a:ln w="25400">
            <a:solidFill>
              <a:srgbClr val="B39DDB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" y="418795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25880" y="4187952"/>
            <a:ext cx="3017520" cy="22823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</a:rPr>
              <a:t>AADL 代码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25880" y="4394606"/>
            <a:ext cx="3017520" cy="1901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A235A"/>
                </a:solidFill>
              </a:rPr>
              <a:t>100% 语法正确，结构合法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141732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F9F9F9"/>
          </a:solidFill>
          <a:ln w="254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49047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3333"/>
                </a:solidFill>
              </a:rPr>
              <a:t>🔄 CFG 前缀自动机原理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638927" y="1828800"/>
            <a:ext cx="347472" cy="347472"/>
          </a:xfrm>
          <a:prstGeom prst="ellipse">
            <a:avLst/>
          </a:prstGeom>
          <a:solidFill>
            <a:srgbClr val="D1ECF1"/>
          </a:solidFill>
          <a:ln w="38100">
            <a:solidFill>
              <a:srgbClr val="7FC5D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638927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15635" y="1856105"/>
            <a:ext cx="6540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 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21273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1273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73952" y="1855851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65519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900" y="1828800"/>
            <a:ext cx="347345" cy="3473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13118" y="1855851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040880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S3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41540" y="1856105"/>
            <a:ext cx="4095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506716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06716" y="1828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5460"/>
                </a:solidFill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74920" y="2176145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每生成一个 Token，状态机前进一步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只允许语法合法的 Token 被选中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37760" y="2679192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2724912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✅ 语法约束能保证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120640" y="2990088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• 关键字、标识符、字面量格式正确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• 组件 / 端口 / 连接结构完整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• 括号配对、分号结尾等格式正确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937760" y="3694176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FFEBEE"/>
          </a:solidFill>
          <a:ln w="25400">
            <a:solidFill>
              <a:srgbClr val="EF9A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3739896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</a:rPr>
              <a:t>❌ 语法约束不能保证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120640" y="4005072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• 子组件类别符合包含规则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• 分类器引用真实存在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</a:rPr>
              <a:t>• 连接端口方向 / 类型匹配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321040" y="48691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kern="0" spc="120" dirty="0">
                <a:solidFill>
                  <a:srgbClr val="222222"/>
                </a:solidFill>
              </a:rPr>
              <a:t>语义约束解码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两阶段渐进式生成 · 动态枚举约束 · 生成时保证语义正确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2980" y="1051560"/>
            <a:ext cx="3383280" cy="3246120"/>
          </a:xfrm>
          <a:prstGeom prst="roundRect">
            <a:avLst>
              <a:gd name="adj" fmla="val 4225"/>
            </a:avLst>
          </a:prstGeom>
          <a:ln w="25400">
            <a:solidFill>
              <a:srgbClr val="42A5F5"/>
            </a:solidFill>
            <a:prstDash val="solid"/>
          </a:ln>
          <a:effectLst>
            <a:outerShdw blurRad="76200" dist="381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46020" y="896112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46020" y="8961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2A5F5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0140" y="141732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47A1"/>
                </a:solidFill>
              </a:rPr>
              <a:t>阶段一：JSON 架构生成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0140" y="176479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三阶段渐进式 · 动态 Schema 枚举约束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48740" y="2075688"/>
            <a:ext cx="2651760" cy="182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0140" y="2194560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4148" y="21945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49908" y="2194560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生成结构化 JSON 架构描述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20140" y="2578608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4148" y="25786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49908" y="2578608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类型 / 实现分两组，base_type 枚举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20140" y="2962656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4148" y="29626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49908" y="2962656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子组件按类别分组 → 包含规则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20140" y="3346704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4148" y="334670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49908" y="3346704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classifier 枚举 → 引用完整性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20140" y="3730752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4148" y="37307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49908" y="3730752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连接按类型分组 → 端口匹配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2473452"/>
            <a:ext cx="2926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AAAAA"/>
                </a:solidFill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777740" y="1051560"/>
            <a:ext cx="3383280" cy="3246120"/>
          </a:xfrm>
          <a:prstGeom prst="roundRect">
            <a:avLst>
              <a:gd name="adj" fmla="val 4225"/>
            </a:avLst>
          </a:prstGeom>
          <a:ln w="25400">
            <a:solidFill>
              <a:srgbClr val="AB47BC"/>
            </a:solidFill>
            <a:prstDash val="solid"/>
          </a:ln>
          <a:effectLst>
            <a:outerShdw blurRad="76200" dist="381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40780" y="896112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B47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0780" y="8961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B47BC"/>
                </a:solidFill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14900" y="141732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148C"/>
                </a:solidFill>
              </a:rPr>
              <a:t>阶段二：AADL 代码生成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14900" y="176479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EBNF 语法约束 · 结构化 Prompt 引导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143500" y="2075688"/>
            <a:ext cx="2651760" cy="1828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4900" y="2194560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8908" y="21945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4668" y="2194560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JSON 架构转为 AADL 生成 Prompt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14900" y="2578608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8908" y="25786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4668" y="2578608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Lark EBNF + llguidance 语法约束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14900" y="2962656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8908" y="29626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44668" y="2962656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架构已确定，模型只需"翻译"代码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14900" y="3346704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8908" y="334670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44668" y="3346704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语义在阶段一保证，阶段二保语法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914900" y="3730752"/>
            <a:ext cx="310896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78908" y="37307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🏁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344668" y="3730752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输出语法语义双正确的 AADL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82980" y="4389120"/>
            <a:ext cx="7178040" cy="4572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  <a:effectLst>
            <a:outerShdw blurRad="508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165860" y="4443984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</a:rPr>
              <a:t>🏆  核心语义规则在生成时即保证，无需后处理修复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321040" y="48691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1287</Words>
  <Application>WPS 演示</Application>
  <PresentationFormat>On-screen Show (16:9)</PresentationFormat>
  <Paragraphs>232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sjndn</cp:lastModifiedBy>
  <cp:revision>2</cp:revision>
  <dcterms:created xsi:type="dcterms:W3CDTF">2026-10-26T07:05:00Z</dcterms:created>
  <dcterms:modified xsi:type="dcterms:W3CDTF">2026-10-26T07:58:21Z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CDF91BA0F2814B72B867560050745C72_12</vt:lpwstr>
  </property>
  <property fmtid="{D5CDD505-2E9C-101B-9397-08002B2CF9AE}" pid="3" name="KSOProductBuildVer">
    <vt:lpwstr>2052-12.1.0.21915</vt:lpwstr>
  </property>
</Properties>
</file>