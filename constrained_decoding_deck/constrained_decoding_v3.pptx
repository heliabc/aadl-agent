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463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222222"/>
                </a:solidFill>
              </a:rPr>
              <a:t>受限解码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777777"/>
                </a:solidFill>
              </a:rPr>
              <a:t>语法约束 · 语义约束 · 两阶段渐进式生成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697480" y="3383280"/>
            <a:ext cx="914400" cy="914400"/>
          </a:xfrm>
          <a:prstGeom prst="ellipse">
            <a:avLst/>
          </a:prstGeom>
          <a:solidFill>
            <a:srgbClr val="D4EDDA"/>
          </a:solidFill>
          <a:ln w="38100">
            <a:solidFill>
              <a:srgbClr val="82C9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9748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9748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97480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5724"/>
                </a:solidFill>
              </a:rPr>
              <a:t>EBNF 语法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3383280"/>
            <a:ext cx="914400" cy="914400"/>
          </a:xfrm>
          <a:prstGeom prst="ellipse">
            <a:avLst/>
          </a:prstGeom>
          <a:solidFill>
            <a:srgbClr val="D1ECF1"/>
          </a:solidFill>
          <a:ln w="38100">
            <a:solidFill>
              <a:srgbClr val="7FC5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14800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5460"/>
                </a:solidFill>
              </a:rPr>
              <a:t>FSM 约束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32120" y="3383280"/>
            <a:ext cx="914400" cy="914400"/>
          </a:xfrm>
          <a:prstGeom prst="ellipse">
            <a:avLst/>
          </a:prstGeom>
          <a:solidFill>
            <a:srgbClr val="E2D5F2"/>
          </a:solidFill>
          <a:ln w="38100">
            <a:solidFill>
              <a:srgbClr val="B39D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532120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235A"/>
                </a:solidFill>
              </a:rPr>
              <a:t>语义保证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spc="120" kern="0" dirty="0">
                <a:solidFill>
                  <a:srgbClr val="222222"/>
                </a:solidFill>
              </a:rPr>
              <a:t>语法约束解码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</a:rPr>
              <a:t>Lark EBNF 语法 · Outlines + llguidance · 逐 Token 保证 AADL 语法正确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11680" y="9601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1ECF1"/>
          </a:solidFill>
          <a:ln w="12700">
            <a:solidFill>
              <a:srgbClr val="7FC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9601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5460"/>
                </a:solidFill>
              </a:rPr>
              <a:t>📐 EBNF 文法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794760" y="9601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2D5F2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9601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235A"/>
                </a:solidFill>
              </a:rPr>
              <a:t>🔄 CFG 状态机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E0B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9601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5100"/>
                </a:solidFill>
              </a:rPr>
              <a:t>🎯 Logits 过滤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3840480" cy="475488"/>
          </a:xfrm>
          <a:prstGeom prst="roundRect">
            <a:avLst>
              <a:gd name="adj" fmla="val 23077"/>
            </a:avLst>
          </a:prstGeom>
          <a:solidFill>
            <a:srgbClr val="D4EDDA"/>
          </a:solidFill>
          <a:ln w="25400">
            <a:solidFill>
              <a:srgbClr val="82C997"/>
            </a:solidFill>
            <a:prstDash val="solid"/>
          </a:ln>
          <a:effectLst>
            <a:outerShdw sx="100000" sy="100000" kx="0" ky="0" algn="bl" rotWithShape="0" blurRad="508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1472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1472184"/>
            <a:ext cx="301752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5724"/>
                </a:solidFill>
              </a:rPr>
              <a:t>自然语言需求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1678838"/>
            <a:ext cx="301752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5724"/>
                </a:solidFill>
              </a:rPr>
              <a:t>"生成飞行控制系统 AADL 代码"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49347" y="1874520"/>
            <a:ext cx="21946" cy="1097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478024" y="1984248"/>
            <a:ext cx="164592" cy="9144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130552"/>
            <a:ext cx="3840480" cy="475488"/>
          </a:xfrm>
          <a:prstGeom prst="roundRect">
            <a:avLst>
              <a:gd name="adj" fmla="val 23077"/>
            </a:avLst>
          </a:prstGeom>
          <a:solidFill>
            <a:srgbClr val="D1ECF1"/>
          </a:solidFill>
          <a:ln w="25400">
            <a:solidFill>
              <a:srgbClr val="7FC5D4"/>
            </a:solidFill>
            <a:prstDash val="solid"/>
          </a:ln>
          <a:effectLst>
            <a:outerShdw sx="100000" sy="100000" kx="0" ky="0" algn="bl" rotWithShape="0" blurRad="50800" dist="25400" dir="5400000">
              <a:srgbClr val="999999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21854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2185416"/>
            <a:ext cx="301752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C5460"/>
                </a:solidFill>
              </a:rPr>
              <a:t>Lark EBNF 语法文件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392070"/>
            <a:ext cx="301752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C5460"/>
                </a:solidFill>
              </a:rPr>
              <a:t>aadl_core.lark — 定义 AADL 文法规则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49347" y="2587752"/>
            <a:ext cx="21946" cy="1097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478024" y="2697480"/>
            <a:ext cx="164592" cy="9144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843784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F9F9F9"/>
          </a:solidFill>
          <a:ln w="25400">
            <a:solidFill>
              <a:srgbClr val="88888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504188" y="2688336"/>
            <a:ext cx="2112264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4188" y="2688336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5555"/>
                </a:solidFill>
              </a:rPr>
              <a:t>🤖 Outlines + llguidance 约束解码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3099816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1455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3333"/>
                </a:solidFill>
              </a:rPr>
              <a:t>🧠 LLM 生成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" y="3401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输出候选 Token logits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68880" y="3191256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AAAAA"/>
                </a:solidFill>
              </a:rPr>
              <a:t>+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651760" y="3099816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1455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3333"/>
                </a:solidFill>
              </a:rPr>
              <a:t>🔒 CFG 约束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697480" y="3401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只放行语法合法 Token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49347" y="3877056"/>
            <a:ext cx="21946" cy="1097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2478024" y="3986784"/>
            <a:ext cx="164592" cy="91440"/>
          </a:xfrm>
          <a:prstGeom prst="triangl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133088"/>
            <a:ext cx="3840480" cy="475488"/>
          </a:xfrm>
          <a:prstGeom prst="roundRect">
            <a:avLst>
              <a:gd name="adj" fmla="val 23077"/>
            </a:avLst>
          </a:prstGeom>
          <a:solidFill>
            <a:srgbClr val="E2D5F2"/>
          </a:solidFill>
          <a:ln w="25400">
            <a:solidFill>
              <a:srgbClr val="B39DDB"/>
            </a:solidFill>
            <a:prstDash val="solid"/>
          </a:ln>
          <a:effectLst>
            <a:outerShdw sx="100000" sy="100000" kx="0" ky="0" algn="bl" rotWithShape="0" blurRad="50800" dist="25400" dir="5400000">
              <a:srgbClr val="999999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9808" y="41879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25880" y="4187952"/>
            <a:ext cx="301752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A235A"/>
                </a:solidFill>
              </a:rPr>
              <a:t>AADL 代码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25880" y="4394606"/>
            <a:ext cx="301752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235A"/>
                </a:solidFill>
              </a:rPr>
              <a:t>100% 语法正确，结构合法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141732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F9F9F9"/>
          </a:solidFill>
          <a:ln w="254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490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333"/>
                </a:solidFill>
              </a:rPr>
              <a:t>🔄 CFG 前缀自动机原理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833872" y="1828800"/>
            <a:ext cx="347472" cy="347472"/>
          </a:xfrm>
          <a:prstGeom prst="ellipse">
            <a:avLst/>
          </a:prstGeom>
          <a:solidFill>
            <a:srgbClr val="D1ECF1"/>
          </a:solidFill>
          <a:ln w="38100">
            <a:solidFill>
              <a:srgbClr val="7FC5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33872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5460"/>
                </a:solidFill>
              </a:rPr>
              <a:t>S0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63056" y="1865376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36208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5460"/>
                </a:solidFill>
              </a:rPr>
              <a:t>S1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65392" y="1865376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638544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8544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5460"/>
                </a:solidFill>
              </a:rPr>
              <a:t>S2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67728" y="1865376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040880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5460"/>
                </a:solidFill>
              </a:rPr>
              <a:t>S3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70064" y="1865376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443216" y="18288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C5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43216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5460"/>
                </a:solidFill>
              </a:rPr>
              <a:t>✓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74920" y="2148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每生成一个 Token，状态机前进一步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只允许语法合法的 Token 被选中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37760" y="2679192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4920" y="27249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</a:rPr>
              <a:t>✅ 语法约束能保证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120640" y="29900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</a:rPr>
              <a:t>• 关键字、标识符、字面量格式正确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</a:rPr>
              <a:t>• 组件 / 端口 / 连接结构完整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</a:rPr>
              <a:t>• 括号配对、分号结尾等格式正确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937760" y="3694176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FFEBEE"/>
          </a:solidFill>
          <a:ln w="25400">
            <a:solidFill>
              <a:srgbClr val="EF9A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4920" y="37398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</a:rPr>
              <a:t>❌ 语法约束不能保证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120640" y="40050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</a:rPr>
              <a:t>• 子组件类别符合包含规则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</a:rPr>
              <a:t>• 分类器引用真实存在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</a:rPr>
              <a:t>• 连接端口方向 / 类型匹配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321040" y="48691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spc="120" kern="0" dirty="0">
                <a:solidFill>
                  <a:srgbClr val="222222"/>
                </a:solidFill>
              </a:rPr>
              <a:t>语义约束解码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</a:rPr>
              <a:t>约束解码 + 基于规则双重保障 · 两阶段渐进式生成 · 生成时即保证语义正确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86200" cy="1828800"/>
          </a:xfrm>
          <a:prstGeom prst="roundRect">
            <a:avLst>
              <a:gd name="adj" fmla="val 6000"/>
            </a:avLst>
          </a:prstGeom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52728"/>
            <a:ext cx="36118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</a:rPr>
              <a:t>🔒  约束解码 · 生成时保障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733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565C0"/>
                </a:solidFill>
              </a:rPr>
              <a:t>通过动态 Schema 枚举约束，在生成 Token 时就限制合法选项，从源头避免语义错误。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361188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65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🏷️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D47A1"/>
                </a:solidFill>
              </a:rPr>
              <a:t>base_type 枚举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48840" y="1965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组件类型限定为 thread / process / system 等合法值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2221992"/>
            <a:ext cx="361188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2219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2219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D47A1"/>
                </a:solidFill>
              </a:rPr>
              <a:t>子组件按类别分组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48840" y="2221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不同 category 有独立子数组 → 包含规则天然满足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2478024"/>
            <a:ext cx="361188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47802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4780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D47A1"/>
                </a:solidFill>
              </a:rPr>
              <a:t>classifier 枚举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48840" y="24780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引用从已生成组件名中选 → 引用完整性保证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2734056"/>
            <a:ext cx="361188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7340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7340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D47A1"/>
                </a:solidFill>
              </a:rPr>
              <a:t>连接按类型分组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48840" y="2734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55A64"/>
                </a:solidFill>
              </a:rPr>
              <a:t>端口方向 / 数据类型匹配的才出现在候选中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1143000"/>
            <a:ext cx="3886200" cy="1828800"/>
          </a:xfrm>
          <a:prstGeom prst="roundRect">
            <a:avLst>
              <a:gd name="adj" fmla="val 6000"/>
            </a:avLst>
          </a:prstGeom>
          <a:ln w="25400">
            <a:solidFill>
              <a:srgbClr val="AB47BC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252728"/>
            <a:ext cx="36118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48C"/>
                </a:solidFill>
              </a:rPr>
              <a:t>📋  基于规则 · 校验保障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16733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A1B9A"/>
                </a:solidFill>
              </a:rPr>
              <a:t>生成后通过规则引擎校验语义正确性，作为约束解码的补充和兜底防线。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37760" y="1965960"/>
            <a:ext cx="361188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1BE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1965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196596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A148C"/>
                </a:solidFill>
              </a:rPr>
              <a:t>包含规则校验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1965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527A0"/>
                </a:solidFill>
              </a:rPr>
              <a:t>process 子组件只能是 thread / data 等，不能是 system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37760" y="2221992"/>
            <a:ext cx="361188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1BE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22219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22219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A148C"/>
                </a:solidFill>
              </a:rPr>
              <a:t>引用完整性校验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2221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527A0"/>
                </a:solidFill>
              </a:rPr>
              <a:t>所有 classifier 引用的组件必须在模型中真实存在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37760" y="2478024"/>
            <a:ext cx="361188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1BE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01768" y="247802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↔️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24780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A148C"/>
                </a:solidFill>
              </a:rPr>
              <a:t>端口方向校验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92240" y="24780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527A0"/>
                </a:solidFill>
              </a:rPr>
              <a:t>连接两端端口方向必须匹配（in ↔ out）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37760" y="2734056"/>
            <a:ext cx="361188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1BE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01768" y="27340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🔢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0" y="27340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4A148C"/>
                </a:solidFill>
              </a:rPr>
              <a:t>数据类型校验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92240" y="27340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527A0"/>
                </a:solidFill>
              </a:rPr>
              <a:t>连接两端端口的数据类型必须一致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▼  两阶段渐进式生成流程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051560" y="3410712"/>
            <a:ext cx="3291840" cy="987552"/>
          </a:xfrm>
          <a:prstGeom prst="roundRect">
            <a:avLst>
              <a:gd name="adj" fmla="val 11111"/>
            </a:avLst>
          </a:prstGeom>
          <a:solidFill>
            <a:srgbClr val="FFF8E1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61288" y="3502152"/>
            <a:ext cx="347472" cy="347472"/>
          </a:xfrm>
          <a:prstGeom prst="ellipse">
            <a:avLst/>
          </a:prstGeom>
          <a:solidFill>
            <a:srgbClr val="FFB300"/>
          </a:solidFill>
          <a:ln w="25400">
            <a:solidFill>
              <a:srgbClr val="FF8F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61288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554480" y="34838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阶段一：JSON 架构生成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554480" y="37216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F6C00"/>
                </a:solidFill>
              </a:rPr>
              <a:t>约束解码为主 · 动态 Schema 枚举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234440" y="3959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4037"/>
                </a:solidFill>
              </a:rPr>
              <a:t>• 生成结构化 JSON 描述 AADL 架构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D4037"/>
                </a:solidFill>
              </a:rPr>
              <a:t>• 子组件按类别分组 + classifier 枚举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D4037"/>
                </a:solidFill>
              </a:rPr>
              <a:t>• 核心语义规则在生成时即保证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425696" y="373989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B300"/>
                </a:solidFill>
              </a:rPr>
              <a:t>➜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4800600" y="3410712"/>
            <a:ext cx="3291840" cy="987552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10328" y="3502152"/>
            <a:ext cx="347472" cy="347472"/>
          </a:xfrm>
          <a:prstGeom prst="ellipse">
            <a:avLst/>
          </a:prstGeom>
          <a:solidFill>
            <a:srgbClr val="66BB6A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0328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5303520" y="34838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阶段二：AADL 代码生成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303520" y="37216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语法约束为主 · 结构化 Prompt 引导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983480" y="3959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</a:rPr>
              <a:t>• JSON 架构转为 AADL 生成 Prompt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</a:rPr>
              <a:t>• Lark EBNF + llguidance 语法约束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</a:rPr>
              <a:t>• 语义已在阶段一保证，阶段二保语法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4453128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448970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🏆  约束解码从源头避免语义错误 + 规则校验兜底，双重保障生成质量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321040" y="48691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2026-10-26T07:30:33Z</dcterms:created>
  <dcterms:modified xsi:type="dcterms:W3CDTF">2026-10-26T07:30:33Z</dcterms:modified>
</cp:coreProperties>
</file>