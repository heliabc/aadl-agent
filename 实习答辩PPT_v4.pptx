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基于多Agent协作的</a:t>
            </a: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AADL模型自动生成系统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校内项目式实习答辩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206240"/>
            <a:ext cx="18288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合作单位：</a:t>
            </a:r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中国航天科工集团706研究所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　　生：</a:t>
            </a:r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　　业：</a:t>
            </a:r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软件工程（大三）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715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</a:t>
            </a:r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XXX</a:t>
            </a:r>
            <a:endParaRPr lang="en-US" sz="1400" dirty="0"/>
          </a:p>
        </p:txBody>
      </p:sp>
      <p:sp>
        <p:nvSpPr>
          <p:cNvPr id="11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 / CONTENTS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答辩内容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合作背景与项目意义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554480"/>
            <a:ext cx="54864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04088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问题与挑战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4088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项目面临的核心技术难点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926080"/>
            <a:ext cx="54864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从原型到最终方案的演进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926080"/>
            <a:ext cx="54864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04088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4088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多Agent协作架构设计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297680"/>
            <a:ext cx="54864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37160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关键技术模块详解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4297680"/>
            <a:ext cx="54864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04088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个人工作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408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实习期间负责的内容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371600" y="5715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收获与展望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实习总结与未来方向</a:t>
            </a:r>
            <a:endParaRPr lang="en-US" sz="12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项目背景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项目背景与意义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03520" cy="219456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合作背景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1031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本项目是与中国航天科工集团706研究所合作的科研项目，面向航天嵌入式系统架构设计场景，旨在利用大语言模型和多Agent协作技术，实现从自然语言需求文档到AADL架构模型的自动化转换。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5303520" cy="219456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什么是AADL？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1031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AADL（架构分析与设计语言）是一种面向嵌入式实时系统的标准化建模语言，广泛应用于航空航天等安全关键领域，用于描述系统的软硬件架构和功能行为。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64240" cy="201168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项目意义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45720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提高航天嵌入式系统架构设计效率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45720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降低AADL建模的技术门槛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5120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探索小模型在专业领域的应用路径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5120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为后续模型微调提供数据基础</a:t>
            </a:r>
            <a:endParaRPr lang="en-US" sz="13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问题与挑战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核心问题与技术挑战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94960" cy="20116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73152" cy="2011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 小模型能力与部署限制的矛盾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3317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根据合作方要求模型需要本地部署，但32B以下小模型对复杂需求的理解和推理能力有限，直接生成AADL代码的质量不高，需要通过系统设计来弥补模型能力的不足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5394960" cy="20116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554480"/>
            <a:ext cx="73152" cy="2011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 AADL语法规则复杂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23317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AADL有严格的组件类型、连接规则、属性定义和扩展机制，模型直接生成容易出现大量语法错误和结构偏差，人工修正成本高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394960" cy="20116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840480"/>
            <a:ext cx="73152" cy="2011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114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 缺乏从需求到AADL的实验数据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6177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目前业界缺乏从自然语言需求到AADL模型的标准化数据集，模型训练和效果评估都缺少高质量的对照样本，需要从零开始构造和积累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840480"/>
            <a:ext cx="5394960" cy="20116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840480"/>
            <a:ext cx="73152" cy="2011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114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 上下文窗口限制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46177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小模型上下文窗口较小，长文档需求难以一次性处理，需要合理的任务拆解和分阶段处理策略，同时要保证各部分之间的一致性</a:t>
            </a:r>
            <a:endParaRPr lang="en-US" sz="12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技术路线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技术路线演进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28800"/>
            <a:ext cx="2651760" cy="457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019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商用大模型原型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0175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测试DeepSeek、豆包等API大模型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基础对话能力强，但专业领域表现一般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AADL语法错误较多，效果不达预期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3154680"/>
            <a:ext cx="137160" cy="274320"/>
          </a:xfrm>
          <a:prstGeom prst="rightTriangle">
            <a:avLst/>
          </a:prstGeom>
          <a:solidFill>
            <a:srgbClr val="E5E7EB"/>
          </a:solidFill>
          <a:ln/>
        </p:spPr>
      </p:sp>
      <p:sp>
        <p:nvSpPr>
          <p:cNvPr id="14" name="Shape 12"/>
          <p:cNvSpPr/>
          <p:nvPr/>
        </p:nvSpPr>
        <p:spPr>
          <a:xfrm>
            <a:off x="3383280" y="182880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828800"/>
            <a:ext cx="265176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19019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切换本地部署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66160" y="30175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根据合作方要求切换到Ollama本地部署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小模型直接生成效果更差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需要通过系统设计弥补能力差距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3154680"/>
            <a:ext cx="137160" cy="274320"/>
          </a:xfrm>
          <a:prstGeom prst="rightTriangle">
            <a:avLst/>
          </a:prstGeom>
          <a:solidFill>
            <a:srgbClr val="E5E7EB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182880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828800"/>
            <a:ext cx="2651760" cy="4572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19019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5508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系统设计优化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30175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多Agent任务拆解 + RAG知识增强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提示词优化 + 静态验证兜底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大幅提升生成准确率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15400" y="3154680"/>
            <a:ext cx="137160" cy="274320"/>
          </a:xfrm>
          <a:prstGeom prst="rightTriangle">
            <a:avLst/>
          </a:prstGeom>
          <a:solidFill>
            <a:srgbClr val="E5E7EB"/>
          </a:solidFill>
          <a:ln/>
        </p:spPr>
      </p:sp>
      <p:sp>
        <p:nvSpPr>
          <p:cNvPr id="26" name="Shape 24"/>
          <p:cNvSpPr/>
          <p:nvPr/>
        </p:nvSpPr>
        <p:spPr>
          <a:xfrm>
            <a:off x="9052560" y="182880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52560" y="1828800"/>
            <a:ext cx="265176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9052560" y="19019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第四阶段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89720" y="2468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持续实验优化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235440" y="30175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根据实验结果调整提示词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丰富知识库内容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构造微调数据集，为微调做准备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257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关键洞察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无论是商用大模型还是本地小模型，在AADL这样的专业领域都无法直接达到理想效果。核心不在于模型大小，而在于能否通过系统设计和领域知识增强，让模型在专业任务上发挥效能。</a:t>
            </a:r>
            <a:endParaRPr lang="en-US" sz="1250" dirty="0"/>
          </a:p>
        </p:txBody>
      </p:sp>
      <p:sp>
        <p:nvSpPr>
          <p:cNvPr id="34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系统架构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系统分层架构设计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1463040"/>
            <a:ext cx="8503920" cy="731520"/>
          </a:xfrm>
          <a:prstGeom prst="roundRect">
            <a:avLst>
              <a:gd name="adj" fmla="val 7500"/>
            </a:avLst>
          </a:prstGeom>
          <a:solidFill>
            <a:srgbClr val="1E40AF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554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表现层 (Presentation Layer)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1554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API 接口 · WebSocket 流式输出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577340"/>
            <a:ext cx="10972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773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03120" y="2212848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对外提供服务入口，接收请求、返回结果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828800" y="2514600"/>
            <a:ext cx="8503920" cy="731520"/>
          </a:xfrm>
          <a:prstGeom prst="roundRect">
            <a:avLst>
              <a:gd name="adj" fmla="val 7500"/>
            </a:avLst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2103120" y="2606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 (Application Layer)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2606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多Agent编排 · 任务调度 · 流程控制 · 链路追踪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628900"/>
            <a:ext cx="10972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289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03120" y="3264408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编排业务流程，串联各Agent协作，不包含具体业务逻辑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28800" y="3566160"/>
            <a:ext cx="8503920" cy="822960"/>
          </a:xfrm>
          <a:prstGeom prst="roundRect">
            <a:avLst>
              <a:gd name="adj" fmla="val 6667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2103120" y="36576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领域服务层 (Domain Service Layer)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3657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6个Agent业务逻辑 · 验证服务 · RAG检索 · 文档服务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726180"/>
            <a:ext cx="10972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7261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103120" y="4407408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核心业务能力，每个Agent独立封装，通过接口被应用层调用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828800" y="4709160"/>
            <a:ext cx="8503920" cy="73152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/>
        </p:spPr>
      </p:sp>
      <p:sp>
        <p:nvSpPr>
          <p:cNvPr id="27" name="Text 25"/>
          <p:cNvSpPr/>
          <p:nvPr/>
        </p:nvSpPr>
        <p:spPr>
          <a:xfrm>
            <a:off x="2103120" y="48006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基础设施层 (Infrastructure Layer)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0" y="4800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模型客户端(Ollama/API) · Qdrant向量库 · Spring Boot · POI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823460"/>
            <a:ext cx="109728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DBEA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8234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103120" y="5458968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底层技术支撑，为上层提供数据库、模型调用等基础设施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349240"/>
            <a:ext cx="11064240" cy="8686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440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架构特点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560320" y="5440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分层职责清晰，类似经典MVC/三层架构思想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669280" y="5440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上层依赖下层，下层独立于上层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778240" y="5440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领域层封装核心业务，便于扩展和测试</a:t>
            </a:r>
            <a:endParaRPr lang="en-US" sz="1150" dirty="0"/>
          </a:p>
        </p:txBody>
      </p:sp>
      <p:sp>
        <p:nvSpPr>
          <p:cNvPr id="37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系统架构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多Agent链式协作流程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1188720" cy="594360"/>
          </a:xfrm>
          <a:prstGeom prst="roundRect">
            <a:avLst>
              <a:gd name="adj" fmla="val 7692"/>
            </a:avLst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544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需求文档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" y="21762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输入：自然语言需求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45920" y="1847088"/>
            <a:ext cx="32004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1783080"/>
            <a:ext cx="91440" cy="128016"/>
          </a:xfrm>
          <a:prstGeom prst="rightTriangle">
            <a:avLst/>
          </a:prstGeom>
          <a:solidFill>
            <a:srgbClr val="6B7280"/>
          </a:solidFill>
          <a:ln/>
        </p:spPr>
      </p:sp>
      <p:sp>
        <p:nvSpPr>
          <p:cNvPr id="13" name="Shape 11"/>
          <p:cNvSpPr/>
          <p:nvPr/>
        </p:nvSpPr>
        <p:spPr>
          <a:xfrm>
            <a:off x="2057400" y="146304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2057400" y="15544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需求分析Agent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57400" y="19019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提取关键要素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0" y="1851660"/>
            <a:ext cx="2743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1787652"/>
            <a:ext cx="91440" cy="128016"/>
          </a:xfrm>
          <a:prstGeom prst="rightTriangle">
            <a:avLst/>
          </a:prstGeom>
          <a:solidFill>
            <a:srgbClr val="6B7280"/>
          </a:solidFill>
          <a:ln/>
        </p:spPr>
      </p:sp>
      <p:sp>
        <p:nvSpPr>
          <p:cNvPr id="18" name="Shape 16"/>
          <p:cNvSpPr/>
          <p:nvPr/>
        </p:nvSpPr>
        <p:spPr>
          <a:xfrm>
            <a:off x="3840480" y="146304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1D4ED8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15544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架构生成Agent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19019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构建架构树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1851660"/>
            <a:ext cx="2743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32120" y="1787652"/>
            <a:ext cx="91440" cy="128016"/>
          </a:xfrm>
          <a:prstGeom prst="rightTriangle">
            <a:avLst/>
          </a:prstGeom>
          <a:solidFill>
            <a:srgbClr val="6B7280"/>
          </a:solidFill>
          <a:ln/>
        </p:spPr>
      </p:sp>
      <p:sp>
        <p:nvSpPr>
          <p:cNvPr id="23" name="Shape 21"/>
          <p:cNvSpPr/>
          <p:nvPr/>
        </p:nvSpPr>
        <p:spPr>
          <a:xfrm>
            <a:off x="5623560" y="146304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5623560" y="15544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模块映射Agent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23560" y="19019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映射组件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32320" y="1851660"/>
            <a:ext cx="2743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1787652"/>
            <a:ext cx="91440" cy="128016"/>
          </a:xfrm>
          <a:prstGeom prst="rightTriangle">
            <a:avLst/>
          </a:prstGeom>
          <a:solidFill>
            <a:srgbClr val="6B7280"/>
          </a:solidFill>
          <a:ln/>
        </p:spPr>
      </p:sp>
      <p:sp>
        <p:nvSpPr>
          <p:cNvPr id="28" name="Shape 26"/>
          <p:cNvSpPr/>
          <p:nvPr/>
        </p:nvSpPr>
        <p:spPr>
          <a:xfrm>
            <a:off x="7406640" y="146304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1D4ED8"/>
          </a:solidFill>
          <a:ln/>
        </p:spPr>
      </p:sp>
      <p:sp>
        <p:nvSpPr>
          <p:cNvPr id="29" name="Text 27"/>
          <p:cNvSpPr/>
          <p:nvPr/>
        </p:nvSpPr>
        <p:spPr>
          <a:xfrm>
            <a:off x="7406640" y="15544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代码生成Agent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06640" y="19019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输出AADL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61020" y="2240280"/>
            <a:ext cx="0" cy="4572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52460" y="23317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06640" y="329184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7406640" y="3383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语法验证Agent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06640" y="37307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检查语法错误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23560" y="3291840"/>
            <a:ext cx="1508760" cy="777240"/>
          </a:xfrm>
          <a:prstGeom prst="roundRect">
            <a:avLst>
              <a:gd name="adj" fmla="val 8235"/>
            </a:avLst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5623560" y="33832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错误修复Agent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23560" y="37307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F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自动修正错误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132320" y="3680460"/>
            <a:ext cx="274320" cy="0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0800000">
            <a:off x="7315200" y="3616452"/>
            <a:ext cx="91440" cy="128016"/>
          </a:xfrm>
          <a:prstGeom prst="rightTriangle">
            <a:avLst/>
          </a:prstGeom>
          <a:solidFill>
            <a:srgbClr val="D97706"/>
          </a:solidFill>
          <a:ln/>
        </p:spPr>
      </p:sp>
      <p:sp>
        <p:nvSpPr>
          <p:cNvPr id="41" name="Text 39"/>
          <p:cNvSpPr/>
          <p:nvPr/>
        </p:nvSpPr>
        <p:spPr>
          <a:xfrm>
            <a:off x="7223760" y="4114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有错误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77940" y="2240280"/>
            <a:ext cx="0" cy="105156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5829300" y="26746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重新验证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372600" y="3383280"/>
            <a:ext cx="1280160" cy="594360"/>
          </a:xfrm>
          <a:prstGeom prst="roundRect">
            <a:avLst>
              <a:gd name="adj" fmla="val 7692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72600" y="33832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AADL模型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9189720" y="3017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输出：语法正确的AADL代码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915400" y="3680460"/>
            <a:ext cx="457200" cy="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281160" y="3616452"/>
            <a:ext cx="91440" cy="128016"/>
          </a:xfrm>
          <a:prstGeom prst="rightTriangle">
            <a:avLst/>
          </a:prstGeom>
          <a:solidFill>
            <a:srgbClr val="059669"/>
          </a:solidFill>
          <a:ln/>
        </p:spPr>
      </p:sp>
      <p:sp>
        <p:nvSpPr>
          <p:cNvPr id="49" name="Text 47"/>
          <p:cNvSpPr/>
          <p:nvPr/>
        </p:nvSpPr>
        <p:spPr>
          <a:xfrm>
            <a:off x="9006840" y="34518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" y="4480560"/>
            <a:ext cx="11247120" cy="164592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580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流程说明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85800" y="49834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链式执行：6个Agent依次协作，前一步输出作为后一步输入，逐步完成从需求到代码的转换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85800" y="5303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验证闭环：验证不通过则进入修复Agent修正，修正后回到代码生成步骤重新验证，直至通过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685800" y="56235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职责单一：每个Agent专注一个子任务，降低单次生成复杂度，提高准确率</a:t>
            </a:r>
            <a:endParaRPr lang="en-US" sz="1150" dirty="0"/>
          </a:p>
        </p:txBody>
      </p:sp>
      <p:sp>
        <p:nvSpPr>
          <p:cNvPr id="55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核心技术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关键技术模块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3566160" cy="73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178308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EFF6F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783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全新学习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多Agent协作架构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2514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将复杂生成任务拆解为6个Agent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责任链模式串联执行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验证-修复闭环保证输出质量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43400" y="155448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554480"/>
            <a:ext cx="3566160" cy="73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0" y="178308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EF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783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实践深化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0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RAG检索增强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2514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查询重写→向量搜索→融合→重排序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为Agent提供AADL语法知识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管道-过滤器架构，灵活可扩展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38160" y="1554480"/>
            <a:ext cx="35661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1554480"/>
            <a:ext cx="3566160" cy="73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2" name="Shape 20"/>
          <p:cNvSpPr/>
          <p:nvPr/>
        </p:nvSpPr>
        <p:spPr>
          <a:xfrm>
            <a:off x="8366760" y="178308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EFF6FF"/>
          </a:solidFill>
          <a:ln/>
        </p:spPr>
      </p:sp>
      <p:sp>
        <p:nvSpPr>
          <p:cNvPr id="23" name="Text 21"/>
          <p:cNvSpPr/>
          <p:nvPr/>
        </p:nvSpPr>
        <p:spPr>
          <a:xfrm>
            <a:off x="8366760" y="1783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实践深化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366760" y="2148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提示词工程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66760" y="25146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YAML配置化结构化提示词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少样本学习+红线规则+自检清单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有效降低小模型生成错误率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103120" y="3931920"/>
            <a:ext cx="37490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03120" y="3931920"/>
            <a:ext cx="374904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Shape 26"/>
          <p:cNvSpPr/>
          <p:nvPr/>
        </p:nvSpPr>
        <p:spPr>
          <a:xfrm>
            <a:off x="2331720" y="416052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ECFDF5"/>
          </a:solidFill>
          <a:ln/>
        </p:spPr>
      </p:sp>
      <p:sp>
        <p:nvSpPr>
          <p:cNvPr id="29" name="Text 27"/>
          <p:cNvSpPr/>
          <p:nvPr/>
        </p:nvSpPr>
        <p:spPr>
          <a:xfrm>
            <a:off x="2331720" y="4160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全新学习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331720" y="4526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静态验证模块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331720" y="4892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基于规则的AADL语法校验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引用完整性、类型一致性检查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属于静态验证范畴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26480" y="3931920"/>
            <a:ext cx="37490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3931920"/>
            <a:ext cx="374904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Shape 32"/>
          <p:cNvSpPr/>
          <p:nvPr/>
        </p:nvSpPr>
        <p:spPr>
          <a:xfrm>
            <a:off x="6355080" y="416052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ECFDF5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4160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全新学习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55080" y="4526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OSATE插件开发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55080" y="4892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基于Eclipse插件体系开发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学习OSATE扩展点机制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为可视化展示做技术储备</a:t>
            </a:r>
            <a:endParaRPr lang="en-US" sz="1150" dirty="0"/>
          </a:p>
        </p:txBody>
      </p:sp>
      <p:sp>
        <p:nvSpPr>
          <p:cNvPr id="38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核心技术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本地小模型为核心的技术路线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本地小模型（核心）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商用API大模型（对比）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28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本地部署，符合合作方要求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 云端API，需联网调用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使用成本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一次部署，长期使用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 按token计费，成本持续增加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专业领域表现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 需系统设计增强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 通用能力强，专业领域一般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可定制性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可微调适配特定领域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△ 通用模型，定制化程度低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长期项目、专业领域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✓ 快速原型、效果对比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4709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核心思路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51206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无论是大模型还是小模型，在AADL这样的专业领域都无法直接达到理想效果。关键不在于模型大小，而在于通过系统设计弥补模型能力不足，让模型在专业任务上发挥最大效能。</a:t>
            </a:r>
            <a:endParaRPr lang="en-US" sz="1300" dirty="0"/>
          </a:p>
        </p:txBody>
      </p:sp>
      <p:sp>
        <p:nvSpPr>
          <p:cNvPr id="12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个人工作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实习期间负责的主要工作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965960"/>
            <a:ext cx="594360" cy="5943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1737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各Agent具体实现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21031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在已有框架基础上实现6个Agent的具体逻辑，包括需求分析、架构生成、模块映射、代码生成等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1965960"/>
            <a:ext cx="594360" cy="5943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23760" y="1737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提示词工程优化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23760" y="21031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为每个Agent设计标准化YAML提示词模板，实践少样本学习、红线规则、自检清单等技术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566160"/>
            <a:ext cx="594360" cy="5943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566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3337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静态验证模块开发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54480" y="37033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开发AADL静态语法验证模块，实现语法错误检测、引用完整性校验、类型一致性检查等功能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17920" y="31546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3566160"/>
            <a:ext cx="594360" cy="5943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3566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23760" y="3337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微调数据集构造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23760" y="37033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按指定JSON格式构造模型微调数据集，完成数据清洗、格式转换、质量校验等准备工作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7548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166360"/>
            <a:ext cx="594360" cy="5943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166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554480" y="4937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系统集成测试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554480" y="53035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进行多Agent系统集成测试，调试各Agent间的信息传递和协作流程，修复发现的问题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17920" y="4754880"/>
            <a:ext cx="5394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6520" y="5166360"/>
            <a:ext cx="594360" cy="5943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5166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23760" y="4937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OSATE插件学习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223760" y="53035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学习OSATE插件开发技术，了解Eclipse插件体系和OSATE扩展点机制，为可视化做准备</a:t>
            </a:r>
            <a:endParaRPr lang="en-US" sz="1150" dirty="0"/>
          </a:p>
        </p:txBody>
      </p:sp>
      <p:sp>
        <p:nvSpPr>
          <p:cNvPr id="38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个人工作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遇到的困难与解决方法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810512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问题：小模型生成的AADL语法错误多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0" y="1645920"/>
            <a:ext cx="0" cy="7772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6459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解决：引入静态验证模块 + 错误修复Agent，形成验证闭环，自动检测并修复常见语法错误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2953512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2788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问题：Agent间信息传递不稳定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60720" y="2788920"/>
            <a:ext cx="0" cy="7772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7889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解决：从纯文本传递改为结构化JSON传递，增加格式校验，提高信息传递的准确性和可靠性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096512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3931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问题：长文档需求超出上下文窗口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60720" y="3931920"/>
            <a:ext cx="0" cy="7772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39319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解决：将需求文档拆解为多个子模块分批处理，通过全局上下文卡片和架构树统一管理各模块信息，保证整体结构一致性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983480"/>
            <a:ext cx="11064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239512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5074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问题：模型选择：效率与准确性的平衡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760720" y="5074920"/>
            <a:ext cx="0" cy="7772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50749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解决：通过实验对比不同参数模型在各Agent上的表现，简单任务用小模型提高效率，复杂任务用较大模型保证质量，形成混合模型调用策略</a:t>
            </a:r>
            <a:endParaRPr lang="en-US" sz="120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收获与展望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实习收获与个人成长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03520" cy="29260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🛠 技术收获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多Agent系统架构设计能力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提示词工程系统化实践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RAG检索增强全流程实践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291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静态验证方法的实际应用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3657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跨领域学习能力（AADL/航天）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4023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OSATE插件开发入门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1554480"/>
            <a:ext cx="5303520" cy="2926080"/>
          </a:xfrm>
          <a:prstGeom prst="rect">
            <a:avLst/>
          </a:prstGeom>
          <a:solidFill>
            <a:srgbClr val="F8F9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综合成长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2194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快速进入已有项目的能力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2560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团队协作与沟通能力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37960" y="2926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工程职业道德意识强化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37960" y="3291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科研项目规范认知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7960" y="3657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自主学习与问题解决能力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37960" y="4023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项目管理与进度把控意识</a:t>
            </a:r>
            <a:endParaRPr lang="en-US" sz="125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"/>
            <a:ext cx="5486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收获与展望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项目现状与未来展望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54864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554480"/>
            <a:ext cx="5303520" cy="2011680"/>
          </a:xfrm>
          <a:prstGeom prst="rect">
            <a:avLst/>
          </a:prstGeom>
          <a:solidFill>
            <a:srgbClr val="FFFBEB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当前状态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核心功能已实现并通过初步测试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微调数据集已构造完成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模型微调工作待开展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291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OSATE可视化插件待开发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5303520" cy="2011680"/>
          </a:xfrm>
          <a:prstGeom prst="rect">
            <a:avLst/>
          </a:prstGeom>
          <a:solidFill>
            <a:srgbClr val="ECFDF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未来工作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219456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开展模型微调，提升生成质量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37960" y="25603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与合作方业务场景对接验证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7960" y="29260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开发OSATE可视化插件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3291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支持更多AADL高级特性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11064240" cy="2103120"/>
          </a:xfrm>
          <a:prstGeom prst="rect">
            <a:avLst/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👤 个人展望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57200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继续关注项目进展，为后续完善贡献力量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63640" y="457200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深入学习大模型应用开发，掌握更多前沿技术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" y="502920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加强架构设计和工程实践能力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63640" y="502920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拓展形式化验证等专业领域知识</a:t>
            </a:r>
            <a:endParaRPr lang="en-US" sz="125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敬请各位老师批评指正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114800"/>
            <a:ext cx="18288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基于多Agent协作的AADL模型自动生成系统</a:t>
            </a:r>
            <a:endParaRPr lang="en-US" sz="1600" dirty="0"/>
          </a:p>
        </p:txBody>
      </p:sp>
      <p:sp>
        <p:nvSpPr>
          <p:cNvPr id="8" name="Watermark"/>
          <p:cNvSpPr txBox="1"/>
          <p:nvPr/>
        </p:nvSpPr>
        <p:spPr>
          <a:xfrm rot="0"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基于多Agent协作的AADL模型自动生成系统 - 实习答辩</dc:title>
  <dc:subject>实习答辩</dc:subject>
  <dc:creator>实习学生</dc:creator>
  <cp:lastModifiedBy>实习学生</cp:lastModifiedBy>
  <cp:revision>1</cp:revision>
  <dcterms:created xsi:type="dcterms:W3CDTF">2026-08-29T12:48:24Z</dcterms:created>
  <dcterms:modified xsi:type="dcterms:W3CDTF">2026-08-29T12:48:24Z</dcterms:modified>
</cp:coreProperties>
</file>