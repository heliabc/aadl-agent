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4" name="Text 2"/>
          <p:cNvSpPr/>
          <p:nvPr/>
        </p:nvSpPr>
        <p:spPr>
          <a:xfrm>
            <a:off x="914400" y="1828800"/>
            <a:ext cx="91440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基于多Agent协作的</a:t>
            </a:r>
            <a:endParaRPr lang="en-US" sz="3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AADL模型自动生成系统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校内项目式实习答辩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18288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合作单位：</a:t>
            </a:r>
            <a:r>
              <a:rPr lang="en-US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中国航天科工集团706研究所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892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　　生：</a:t>
            </a:r>
            <a:r>
              <a:rPr lang="en-US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3035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　　业：</a:t>
            </a:r>
            <a:r>
              <a:rPr lang="en-US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软件工程（大三）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7150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指导教师：</a:t>
            </a:r>
            <a:r>
              <a:rPr lang="en-US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XXX</a:t>
            </a:r>
            <a:endParaRPr lang="en-US" sz="1400" dirty="0"/>
          </a:p>
        </p:txBody>
      </p:sp>
      <p:sp>
        <p:nvSpPr>
          <p:cNvPr id="11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 / CONTENTS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答辩内容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6002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920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合作背景与项目意义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040880" y="16002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问题与挑战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40880" y="1920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小模型生成AADL的技术难点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29718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技术路线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2918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从原型到最终方案的演进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9260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040880" y="29718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系统架构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32918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多Agent协作架构设计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2976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371600" y="43434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6634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关键技术模块详解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42976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40880" y="43434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个人工作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40880" y="46634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实习期间负责的内容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371600" y="57150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收获与展望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60350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实习总结与未来方向</a:t>
            </a:r>
            <a:endParaRPr lang="en-US" sz="1200" dirty="0"/>
          </a:p>
        </p:txBody>
      </p:sp>
      <p:sp>
        <p:nvSpPr>
          <p:cNvPr id="29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/ 项目背景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项目背景与意义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03520" cy="219456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合作背景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本项目是与中国航天科工集团706研究所合作的科研项目，面向航天嵌入式系统架构设计场景，旨在利用大语言模型和多Agent协作技术，实现从自然语言需求文档到AADL架构模型的自动化转换。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303520" cy="219456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6916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什么是AADL？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10312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AADL（架构分析与设计语言）是一种面向嵌入式实时系统的标准化建模语言，广泛应用于航空航天等安全关键领域，用于描述系统的软硬件架构和功能行为。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64240" cy="201168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605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项目意义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57200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提高航天嵌入式系统架构设计效率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457200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降低AADL建模的技术门槛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12064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探索小模型在专业领域的应用路径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512064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为后续模型微调提供数据基础</a:t>
            </a:r>
            <a:endParaRPr lang="en-US" sz="1300" dirty="0"/>
          </a:p>
        </p:txBody>
      </p:sp>
      <p:sp>
        <p:nvSpPr>
          <p:cNvPr id="20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/ 问题与挑战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核心问题与技术挑战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73152" cy="20116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0" name="Text 8"/>
          <p:cNvSpPr/>
          <p:nvPr/>
        </p:nvSpPr>
        <p:spPr>
          <a:xfrm>
            <a:off x="868680" y="1828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 小模型理解能力有限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33172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32B以下小模型对复杂需求的理解和推理能力不足，直接生成AADL代码质量不高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554480"/>
            <a:ext cx="73152" cy="20116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4" name="Text 12"/>
          <p:cNvSpPr/>
          <p:nvPr/>
        </p:nvSpPr>
        <p:spPr>
          <a:xfrm>
            <a:off x="6537960" y="1828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 AADL语法规则复杂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233172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AADL有严格的组件类型、连接规则、属性定义，直接生成容易出现大量语法错误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40480"/>
            <a:ext cx="73152" cy="20116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8" name="Text 16"/>
          <p:cNvSpPr/>
          <p:nvPr/>
        </p:nvSpPr>
        <p:spPr>
          <a:xfrm>
            <a:off x="868680" y="4114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 部署方式受限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61772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根据合作方要求，模型需要本地部署，不能直接调用云端API大模型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3840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840480"/>
            <a:ext cx="73152" cy="20116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2" name="Text 20"/>
          <p:cNvSpPr/>
          <p:nvPr/>
        </p:nvSpPr>
        <p:spPr>
          <a:xfrm>
            <a:off x="6537960" y="4114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 上下文窗口限制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461772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小模型上下文窗口较小，长文档需求难以一次性处理，需要合理的任务拆解</a:t>
            </a:r>
            <a:endParaRPr lang="en-US" sz="1300" dirty="0"/>
          </a:p>
        </p:txBody>
      </p:sp>
      <p:sp>
        <p:nvSpPr>
          <p:cNvPr id="24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/ 技术路线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技术路线演进：从大模型到小模型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28800"/>
            <a:ext cx="2651760" cy="457200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10" name="Text 8"/>
          <p:cNvSpPr/>
          <p:nvPr/>
        </p:nvSpPr>
        <p:spPr>
          <a:xfrm>
            <a:off x="548640" y="19019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第一阶段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商用大模型原型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22860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使用DeepSeek、豆包等API大模型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验证方案可行性，生成效果较好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46120" y="3154680"/>
            <a:ext cx="137160" cy="27432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4" name="Shape 12"/>
          <p:cNvSpPr/>
          <p:nvPr/>
        </p:nvSpPr>
        <p:spPr>
          <a:xfrm>
            <a:off x="338328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828800"/>
            <a:ext cx="2651760" cy="4572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6" name="Text 14"/>
          <p:cNvSpPr/>
          <p:nvPr/>
        </p:nvSpPr>
        <p:spPr>
          <a:xfrm>
            <a:off x="3383280" y="19019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第二阶段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切换本地部署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66160" y="3063240"/>
            <a:ext cx="22860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根据合作方要求切换到Ollama本地部署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小模型直接生成效果下降明显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3154680"/>
            <a:ext cx="137160" cy="27432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20" name="Shape 18"/>
          <p:cNvSpPr/>
          <p:nvPr/>
        </p:nvSpPr>
        <p:spPr>
          <a:xfrm>
            <a:off x="621792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828800"/>
            <a:ext cx="2651760" cy="4572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22" name="Text 20"/>
          <p:cNvSpPr/>
          <p:nvPr/>
        </p:nvSpPr>
        <p:spPr>
          <a:xfrm>
            <a:off x="6217920" y="19019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第三阶段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系统设计优化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3063240"/>
            <a:ext cx="22860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多Agent任务拆解 + RAG知识增强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 提示词优化 + 静态验证兜底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15400" y="3154680"/>
            <a:ext cx="137160" cy="27432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26" name="Shape 24"/>
          <p:cNvSpPr/>
          <p:nvPr/>
        </p:nvSpPr>
        <p:spPr>
          <a:xfrm>
            <a:off x="905256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52560" y="1828800"/>
            <a:ext cx="2651760" cy="4572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8" name="Text 26"/>
          <p:cNvSpPr/>
          <p:nvPr/>
        </p:nvSpPr>
        <p:spPr>
          <a:xfrm>
            <a:off x="9052560" y="19019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第四阶段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8972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数据与微调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35440" y="3063240"/>
            <a:ext cx="22860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构造标准化微调数据集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为后续模型微调做准备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257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关键洞察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小模型不是大模型的简单降级，而是需要完全不同的系统设计思路。通过精巧的系统架构设计，可以在很大程度上弥补模型能力的不足，让中小参数模型也能完成高质量的专业任务。</a:t>
            </a:r>
            <a:endParaRPr lang="en-US" sz="1250" dirty="0"/>
          </a:p>
        </p:txBody>
      </p:sp>
      <p:sp>
        <p:nvSpPr>
          <p:cNvPr id="34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系统架构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系统分层架构设计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554480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DBEAFE"/>
          </a:solidFill>
        </p:spPr>
      </p:sp>
      <p:sp>
        <p:nvSpPr>
          <p:cNvPr id="9" name="Text 7"/>
          <p:cNvSpPr/>
          <p:nvPr/>
        </p:nvSpPr>
        <p:spPr>
          <a:xfrm>
            <a:off x="1645920" y="16002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Infrastructure 基础设施层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6002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Qdrant向量库 · Spring Boot · POI · Lombok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2212848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93C5FD"/>
          </a:solidFill>
        </p:spPr>
      </p:sp>
      <p:sp>
        <p:nvSpPr>
          <p:cNvPr id="12" name="Text 10"/>
          <p:cNvSpPr/>
          <p:nvPr/>
        </p:nvSpPr>
        <p:spPr>
          <a:xfrm>
            <a:off x="1645920" y="225856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Client 模型客户端层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25856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0F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Ollama · OpenAI · DeepSeek · 豆包 多模型适配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2871216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60A5FA"/>
          </a:solidFill>
        </p:spPr>
      </p:sp>
      <p:sp>
        <p:nvSpPr>
          <p:cNvPr id="15" name="Text 13"/>
          <p:cNvSpPr/>
          <p:nvPr/>
        </p:nvSpPr>
        <p:spPr>
          <a:xfrm>
            <a:off x="1645920" y="2916936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 检索增强层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916936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0F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查询重写 · 向量搜索 · 结果融合 · 重排序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3529584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3B82F6"/>
          </a:solidFill>
        </p:spPr>
      </p:sp>
      <p:sp>
        <p:nvSpPr>
          <p:cNvPr id="18" name="Text 16"/>
          <p:cNvSpPr/>
          <p:nvPr/>
        </p:nvSpPr>
        <p:spPr>
          <a:xfrm>
            <a:off x="1645920" y="3575304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Service 服务层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57530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0F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追溯服务 · 验证服务 · 转换服务 · 文档服务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71600" y="4187952"/>
            <a:ext cx="9418320" cy="640080"/>
          </a:xfrm>
          <a:prstGeom prst="roundRect">
            <a:avLst>
              <a:gd name="adj" fmla="val 7143"/>
            </a:avLst>
          </a:prstGeom>
          <a:solidFill>
            <a:srgbClr val="2563EB"/>
          </a:solidFill>
        </p:spPr>
      </p:sp>
      <p:sp>
        <p:nvSpPr>
          <p:cNvPr id="21" name="Text 19"/>
          <p:cNvSpPr/>
          <p:nvPr/>
        </p:nvSpPr>
        <p:spPr>
          <a:xfrm>
            <a:off x="1645920" y="423367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智能体层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4233672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0F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 · 架构生成 · 模块映射 · 代码生成 · 验证 · 修复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71600" y="4937760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1D4ED8"/>
          </a:solidFill>
        </p:spPr>
      </p:sp>
      <p:sp>
        <p:nvSpPr>
          <p:cNvPr id="24" name="Text 22"/>
          <p:cNvSpPr/>
          <p:nvPr/>
        </p:nvSpPr>
        <p:spPr>
          <a:xfrm>
            <a:off x="1645920" y="49834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Controller 控制层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49834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0F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REST API 接口 · WebSocket 流式输出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4864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架构特点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5852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分层设计，低耦合高内聚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5852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责任链模式串联Agent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2179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管道-过滤器架构RAG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62179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多模型灵活切换适配</a:t>
            </a:r>
            <a:endParaRPr lang="en-US" sz="1200" dirty="0"/>
          </a:p>
        </p:txBody>
      </p:sp>
      <p:sp>
        <p:nvSpPr>
          <p:cNvPr id="31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系统架构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多Agent链式协作流程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024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需求文档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57400" y="2148840"/>
            <a:ext cx="182880" cy="182880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11" name="Shape 9"/>
          <p:cNvSpPr/>
          <p:nvPr/>
        </p:nvSpPr>
        <p:spPr>
          <a:xfrm>
            <a:off x="2286000" y="16459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D4ED8"/>
          </a:solidFill>
        </p:spPr>
      </p:sp>
      <p:sp>
        <p:nvSpPr>
          <p:cNvPr id="12" name="Text 10"/>
          <p:cNvSpPr/>
          <p:nvPr/>
        </p:nvSpPr>
        <p:spPr>
          <a:xfrm>
            <a:off x="2286000" y="1828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21945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提取关键要素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61688" y="2057400"/>
            <a:ext cx="182880" cy="182880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15" name="Shape 13"/>
          <p:cNvSpPr/>
          <p:nvPr/>
        </p:nvSpPr>
        <p:spPr>
          <a:xfrm>
            <a:off x="4617720" y="16459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D4ED8"/>
          </a:solidFill>
        </p:spPr>
      </p:sp>
      <p:sp>
        <p:nvSpPr>
          <p:cNvPr id="16" name="Text 14"/>
          <p:cNvSpPr/>
          <p:nvPr/>
        </p:nvSpPr>
        <p:spPr>
          <a:xfrm>
            <a:off x="4617720" y="1828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架构生成Agent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17720" y="21945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生成架构树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93408" y="2057400"/>
            <a:ext cx="182880" cy="182880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19" name="Shape 17"/>
          <p:cNvSpPr/>
          <p:nvPr/>
        </p:nvSpPr>
        <p:spPr>
          <a:xfrm>
            <a:off x="6949440" y="16459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D4ED8"/>
          </a:solidFill>
        </p:spPr>
      </p:sp>
      <p:sp>
        <p:nvSpPr>
          <p:cNvPr id="20" name="Text 18"/>
          <p:cNvSpPr/>
          <p:nvPr/>
        </p:nvSpPr>
        <p:spPr>
          <a:xfrm>
            <a:off x="6949440" y="1828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模块映射Agent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21945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映射组件类型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25128" y="2057400"/>
            <a:ext cx="182880" cy="182880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23" name="Shape 21"/>
          <p:cNvSpPr/>
          <p:nvPr/>
        </p:nvSpPr>
        <p:spPr>
          <a:xfrm>
            <a:off x="9281160" y="16459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D4ED8"/>
          </a:solidFill>
        </p:spPr>
      </p:sp>
      <p:sp>
        <p:nvSpPr>
          <p:cNvPr id="24" name="Text 22"/>
          <p:cNvSpPr/>
          <p:nvPr/>
        </p:nvSpPr>
        <p:spPr>
          <a:xfrm>
            <a:off x="9281160" y="1828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代码生成Agent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81160" y="21945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输出AADL代码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356848" y="2057400"/>
            <a:ext cx="182880" cy="182880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27" name="Shape 25"/>
          <p:cNvSpPr/>
          <p:nvPr/>
        </p:nvSpPr>
        <p:spPr>
          <a:xfrm>
            <a:off x="11612880" y="16459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059669"/>
          </a:solidFill>
        </p:spPr>
      </p:sp>
      <p:sp>
        <p:nvSpPr>
          <p:cNvPr id="28" name="Text 26"/>
          <p:cNvSpPr/>
          <p:nvPr/>
        </p:nvSpPr>
        <p:spPr>
          <a:xfrm>
            <a:off x="11612880" y="1828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语法验证Agent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612880" y="21945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FA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检查语法错误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601200" y="374904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0" y="374904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AADL模型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0" y="34747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0891B2"/>
          </a:solidFill>
        </p:spPr>
      </p:sp>
      <p:sp>
        <p:nvSpPr>
          <p:cNvPr id="33" name="Text 31"/>
          <p:cNvSpPr/>
          <p:nvPr/>
        </p:nvSpPr>
        <p:spPr>
          <a:xfrm>
            <a:off x="5486400" y="36576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错误修复Agent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0" y="40233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F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自动修正错误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2618720" y="2651760"/>
            <a:ext cx="0" cy="82296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710160" y="2926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有错误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2618720" y="2148840"/>
            <a:ext cx="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624560" y="2148840"/>
            <a:ext cx="13716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996160" y="2148840"/>
            <a:ext cx="0" cy="164592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996160" y="4069080"/>
            <a:ext cx="4572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898880" y="1920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92240" y="4480560"/>
            <a:ext cx="0" cy="274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45262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重新验证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50749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核心机制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77240" y="54406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链式执行：6个Agent依次协作，前一步输出作为后一步输入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77240" y="576072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验证闭环：验证不通过则进入修复Agent，修正后重新验证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77240" y="608076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职责单一：每个Agent专注一个步骤，降低出错概率</a:t>
            </a:r>
            <a:endParaRPr lang="en-US" sz="1200" dirty="0"/>
          </a:p>
        </p:txBody>
      </p:sp>
      <p:sp>
        <p:nvSpPr>
          <p:cNvPr id="49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核心技术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关键技术模块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94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5394960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0" name="Shape 8"/>
          <p:cNvSpPr/>
          <p:nvPr/>
        </p:nvSpPr>
        <p:spPr>
          <a:xfrm>
            <a:off x="822960" y="1828800"/>
            <a:ext cx="1005840" cy="2743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</p:spPr>
      </p:sp>
      <p:sp>
        <p:nvSpPr>
          <p:cNvPr id="11" name="Text 9"/>
          <p:cNvSpPr/>
          <p:nvPr/>
        </p:nvSpPr>
        <p:spPr>
          <a:xfrm>
            <a:off x="822960" y="1828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全新学习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多Agent协作架构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260604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将复杂生成任务拆解为6个Agent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通过责任链模式串联执行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验证-修复闭环保证输出质量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5394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554480"/>
            <a:ext cx="5394960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6" name="Shape 14"/>
          <p:cNvSpPr/>
          <p:nvPr/>
        </p:nvSpPr>
        <p:spPr>
          <a:xfrm>
            <a:off x="6492240" y="1828800"/>
            <a:ext cx="1005840" cy="2743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</p:spPr>
      </p:sp>
      <p:sp>
        <p:nvSpPr>
          <p:cNvPr id="17" name="Text 15"/>
          <p:cNvSpPr/>
          <p:nvPr/>
        </p:nvSpPr>
        <p:spPr>
          <a:xfrm>
            <a:off x="6492240" y="1828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实践深化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21945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RAG检索增强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92240" y="260604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查询重写→向量搜索→结果融合→重排序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为Agent提供AADL语法知识支持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管道-过滤器架构，可灵活替换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5394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931920"/>
            <a:ext cx="5394960" cy="73152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2" name="Shape 20"/>
          <p:cNvSpPr/>
          <p:nvPr/>
        </p:nvSpPr>
        <p:spPr>
          <a:xfrm>
            <a:off x="822960" y="4206240"/>
            <a:ext cx="1005840" cy="2743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</p:spPr>
      </p:sp>
      <p:sp>
        <p:nvSpPr>
          <p:cNvPr id="23" name="Text 21"/>
          <p:cNvSpPr/>
          <p:nvPr/>
        </p:nvSpPr>
        <p:spPr>
          <a:xfrm>
            <a:off x="822960" y="42062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全新学习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45720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静态验证模块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2960" y="498348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基于规则的AADL语法校验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引用完整性、类型一致性检查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属于静态验证范畴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3931920"/>
            <a:ext cx="5394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3931920"/>
            <a:ext cx="5394960" cy="73152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8" name="Shape 26"/>
          <p:cNvSpPr/>
          <p:nvPr/>
        </p:nvSpPr>
        <p:spPr>
          <a:xfrm>
            <a:off x="6492240" y="4206240"/>
            <a:ext cx="1005840" cy="2743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</p:spPr>
      </p:sp>
      <p:sp>
        <p:nvSpPr>
          <p:cNvPr id="29" name="Text 27"/>
          <p:cNvSpPr/>
          <p:nvPr/>
        </p:nvSpPr>
        <p:spPr>
          <a:xfrm>
            <a:off x="6492240" y="42062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全新学习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45720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OSATE插件开发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492240" y="498348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基于Eclipse插件体系开发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学习OSATE扩展点机制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为可视化展示做技术储备</a:t>
            </a:r>
            <a:endParaRPr lang="en-US" sz="1200" dirty="0"/>
          </a:p>
        </p:txBody>
      </p:sp>
      <p:sp>
        <p:nvSpPr>
          <p:cNvPr id="32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核心技术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本地小模型为核心的技术路线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8640" y="1554480"/>
          <a:ext cx="11064240" cy="27432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对比维度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本地小模型（核心）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商用API大模型（对比）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部署方式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本地部署，符合合作方要求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云端API，需联网调用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使用成本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一次部署，长期使用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按token计费，成本持续增加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生成质量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基础能力较弱，需系统设计弥补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理解和生成能力强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可定制性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可微调适配特定领域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通用模型，定制化程度低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适用场景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长期项目、专业领域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快速原型、效果对比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8" name="Text 7"/>
          <p:cNvSpPr/>
          <p:nvPr/>
        </p:nvSpPr>
        <p:spPr>
          <a:xfrm>
            <a:off x="777240" y="47091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核心思路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模型不是大模型的简单降级，而是需要完全不同的系统设计思路——大模型时代"大力出奇迹"，小模型时代则需要"巧劲补不足"，通过任务拆解、知识增强、提示优化、规则兜底等组合拳，让小模型发挥最大效能。</a:t>
            </a:r>
            <a:endParaRPr lang="en-US" sz="1300" dirty="0"/>
          </a:p>
        </p:txBody>
      </p:sp>
      <p:sp>
        <p:nvSpPr>
          <p:cNvPr id="12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/ 个人工作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实习期间负责的主要工作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10" name="Text 8"/>
          <p:cNvSpPr/>
          <p:nvPr/>
        </p:nvSpPr>
        <p:spPr>
          <a:xfrm>
            <a:off x="777240" y="1965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17373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各Agent具体实现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1031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在已有框架基础上实现6个Agent的具体逻辑，包括需求分析、架构生成、模块映射、代码生成等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19659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15" name="Text 13"/>
          <p:cNvSpPr/>
          <p:nvPr/>
        </p:nvSpPr>
        <p:spPr>
          <a:xfrm>
            <a:off x="6446520" y="1965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23760" y="17373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提示词工程优化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23760" y="21031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为每个Agent设计标准化YAML提示词模板，实践少样本学习、红线规则、自检清单等技术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5661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20" name="Text 18"/>
          <p:cNvSpPr/>
          <p:nvPr/>
        </p:nvSpPr>
        <p:spPr>
          <a:xfrm>
            <a:off x="777240" y="35661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3375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静态验证模块开发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37033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开发AADL静态语法验证模块，实现语法错误检测、引用完整性校验、类型一致性检查等功能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31546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35661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25" name="Text 23"/>
          <p:cNvSpPr/>
          <p:nvPr/>
        </p:nvSpPr>
        <p:spPr>
          <a:xfrm>
            <a:off x="6446520" y="35661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23760" y="33375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微调数据集构造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23760" y="37033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按指定JSON格式构造模型微调数据集，完成数据清洗、格式转换、质量校验等准备工作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7548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1663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30" name="Text 28"/>
          <p:cNvSpPr/>
          <p:nvPr/>
        </p:nvSpPr>
        <p:spPr>
          <a:xfrm>
            <a:off x="777240" y="51663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54480" y="49377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系统集成测试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554480" y="53035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进行多Agent系统集成测试，调试各Agent间的信息传递和协作流程，修复发现的问题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17920" y="47548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51663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35" name="Text 33"/>
          <p:cNvSpPr/>
          <p:nvPr/>
        </p:nvSpPr>
        <p:spPr>
          <a:xfrm>
            <a:off x="6446520" y="51663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23760" y="49377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OSATE插件学习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223760" y="53035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学习OSATE插件开发技术，了解Eclipse插件体系和OSATE扩展点机制，为可视化做准备</a:t>
            </a:r>
            <a:endParaRPr lang="en-US" sz="1150" dirty="0"/>
          </a:p>
        </p:txBody>
      </p:sp>
      <p:sp>
        <p:nvSpPr>
          <p:cNvPr id="38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/ 个人工作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遇到的困难与解决方法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1"/>
            </p:custDataLst>
          </p:nvPr>
        </p:nvSpPr>
        <p:spPr>
          <a:xfrm>
            <a:off x="777240" y="1810512"/>
            <a:ext cx="457200" cy="45720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10" name="Text 8"/>
          <p:cNvSpPr/>
          <p:nvPr>
            <p:custDataLst>
              <p:tags r:id="rId2"/>
            </p:custDataLst>
          </p:nvPr>
        </p:nvSpPr>
        <p:spPr>
          <a:xfrm>
            <a:off x="777240" y="18105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>
            <p:custDataLst>
              <p:tags r:id="rId3"/>
            </p:custDataLst>
          </p:nvPr>
        </p:nvSpPr>
        <p:spPr>
          <a:xfrm>
            <a:off x="1371600" y="1875155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问题：小模型生成的AADL语法错误多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0" cy="6858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9164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解决：引入静态验证模块 + 错误修复Agent，形成验证闭环，自动检测并修复常见语法错误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4"/>
            </p:custDataLst>
          </p:nvPr>
        </p:nvSpPr>
        <p:spPr>
          <a:xfrm>
            <a:off x="777240" y="2953512"/>
            <a:ext cx="457200" cy="45720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16" name="Text 14"/>
          <p:cNvSpPr/>
          <p:nvPr>
            <p:custDataLst>
              <p:tags r:id="rId5"/>
            </p:custDataLst>
          </p:nvPr>
        </p:nvSpPr>
        <p:spPr>
          <a:xfrm>
            <a:off x="777240" y="29535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>
            <p:custDataLst>
              <p:tags r:id="rId6"/>
            </p:custDataLst>
          </p:nvPr>
        </p:nvSpPr>
        <p:spPr>
          <a:xfrm>
            <a:off x="1409700" y="29946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问题：Agent间信息传递不稳定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2834640"/>
            <a:ext cx="0" cy="6858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83464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解决：从纯文本传递改为结构化JSON传递，增加格式校验，提高信息传递的准确性和可靠性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7"/>
            </p:custDataLst>
          </p:nvPr>
        </p:nvSpPr>
        <p:spPr>
          <a:xfrm>
            <a:off x="777240" y="4096512"/>
            <a:ext cx="457200" cy="45720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22" name="Text 20"/>
          <p:cNvSpPr/>
          <p:nvPr>
            <p:custDataLst>
              <p:tags r:id="rId8"/>
            </p:custDataLst>
          </p:nvPr>
        </p:nvSpPr>
        <p:spPr>
          <a:xfrm>
            <a:off x="777240" y="40965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>
            <p:custDataLst>
              <p:tags r:id="rId9"/>
            </p:custDataLst>
          </p:nvPr>
        </p:nvSpPr>
        <p:spPr>
          <a:xfrm>
            <a:off x="1371600" y="4161155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问题：长文档需求超出上下文窗口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3977640"/>
            <a:ext cx="0" cy="6858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97764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解决：将需求拆解为多个子模块分批处理，通过架构树统一管理，再逐步生成完整模型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983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>
            <p:custDataLst>
              <p:tags r:id="rId10"/>
            </p:custDataLst>
          </p:nvPr>
        </p:nvSpPr>
        <p:spPr>
          <a:xfrm>
            <a:off x="777240" y="5239512"/>
            <a:ext cx="457200" cy="45720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28" name="Text 26"/>
          <p:cNvSpPr/>
          <p:nvPr>
            <p:custDataLst>
              <p:tags r:id="rId11"/>
            </p:custDataLst>
          </p:nvPr>
        </p:nvSpPr>
        <p:spPr>
          <a:xfrm>
            <a:off x="777240" y="52395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>
            <p:custDataLst>
              <p:tags r:id="rId12"/>
            </p:custDataLst>
          </p:nvPr>
        </p:nvSpPr>
        <p:spPr>
          <a:xfrm>
            <a:off x="1417320" y="5258435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问题：提示词优化迭代效率低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0" y="5120640"/>
            <a:ext cx="0" cy="6858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512064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解决：采用YAML配置化管理，提示词与代码解耦，支持快速迭代和多版本对比测试</a:t>
            </a:r>
            <a:endParaRPr lang="en-US" sz="1250" dirty="0"/>
          </a:p>
        </p:txBody>
      </p:sp>
      <p:sp>
        <p:nvSpPr>
          <p:cNvPr id="32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/ 收获与展望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实习收获与个人成长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03520" cy="29260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🛠 技术收获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多Agent系统架构设计能力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RAG检索增强的全流程实践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静态验证方法的实际应用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跨领域学习能力（AADL/航天）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OSATE插件开发入门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40233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数据工程与数据集构造经验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5303520" cy="29260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综合成长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21945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快速进入已有项目的能力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25603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团队协作与沟通能力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7960" y="2926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工程职业道德意识强化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32918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科研项目规范认知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36576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自主学习与问题解决能力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40233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项目管理与进度把控意识</a:t>
            </a:r>
            <a:endParaRPr lang="en-US" sz="1250" dirty="0"/>
          </a:p>
        </p:txBody>
      </p:sp>
      <p:sp>
        <p:nvSpPr>
          <p:cNvPr id="24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/ 收获与展望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项目现状与未来展望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03520" cy="2011680"/>
          </a:xfrm>
          <a:prstGeom prst="rect">
            <a:avLst/>
          </a:prstGeom>
          <a:solidFill>
            <a:srgbClr val="FFFBE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📋 当前状态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核心功能已实现并通过初步测试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微调数据集已构造完成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模型微调工作待开展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OSATE可视化插件待开发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5303520" cy="2011680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7373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🚀 未来工作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219456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开展模型微调，提升生成质量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256032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与合作方业务场景对接验证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292608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开发OSATE可视化插件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329184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支持更多AADL高级特性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11064240" cy="210312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14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👤 个人展望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57200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继续关注项目进展，为后续完善贡献力量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63640" y="457200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深入学习大模型应用开发，掌握更多前沿技术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502920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加强架构设计和工程实践能力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63640" y="502920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拓展形式化验证等专业领域知识</a:t>
            </a:r>
            <a:endParaRPr lang="en-US" sz="1250" dirty="0"/>
          </a:p>
        </p:txBody>
      </p:sp>
      <p:sp>
        <p:nvSpPr>
          <p:cNvPr id="26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4" name="Text 2"/>
          <p:cNvSpPr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敬请各位老师批评指正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18288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3891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基于多Agent协作的AADL模型自动生成系统</a:t>
            </a:r>
            <a:endParaRPr lang="en-US" sz="1600" dirty="0"/>
          </a:p>
        </p:txBody>
      </p:sp>
      <p:sp>
        <p:nvSpPr>
          <p:cNvPr id="8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8.96000000000004,&quot;left&quot;:61.2,&quot;top&quot;:129.6,&quot;width&quot;:410.4}"/>
</p:tagLst>
</file>

<file path=ppt/tags/tag2.xml><?xml version="1.0" encoding="utf-8"?>
<p:tagLst xmlns:p="http://schemas.openxmlformats.org/presentationml/2006/main">
  <p:tag name="KSO_WM_DIAGRAM_VIRTUALLY_FRAME" val="{&quot;height&quot;:318.96000000000004,&quot;left&quot;:61.2,&quot;top&quot;:129.6,&quot;width&quot;:410.4}"/>
</p:tagLst>
</file>

<file path=ppt/tags/tag3.xml><?xml version="1.0" encoding="utf-8"?>
<p:tagLst xmlns:p="http://schemas.openxmlformats.org/presentationml/2006/main">
  <p:tag name="KSO_WM_DIAGRAM_VIRTUALLY_FRAME" val="{&quot;height&quot;:318.96000000000004,&quot;left&quot;:61.2,&quot;top&quot;:129.6,&quot;width&quot;:410.4}"/>
</p:tagLst>
</file>

<file path=ppt/tags/tag4.xml><?xml version="1.0" encoding="utf-8"?>
<p:tagLst xmlns:p="http://schemas.openxmlformats.org/presentationml/2006/main">
  <p:tag name="KSO_WM_DIAGRAM_VIRTUALLY_FRAME" val="{&quot;height&quot;:318.96000000000004,&quot;left&quot;:61.2,&quot;top&quot;:129.6,&quot;width&quot;:410.4}"/>
</p:tagLst>
</file>

<file path=ppt/tags/tag5.xml><?xml version="1.0" encoding="utf-8"?>
<p:tagLst xmlns:p="http://schemas.openxmlformats.org/presentationml/2006/main">
  <p:tag name="KSO_WM_DIAGRAM_VIRTUALLY_FRAME" val="{&quot;height&quot;:318.96000000000004,&quot;left&quot;:61.2,&quot;top&quot;:129.6,&quot;width&quot;:410.4}"/>
</p:tagLst>
</file>

<file path=ppt/tags/tag6.xml><?xml version="1.0" encoding="utf-8"?>
<p:tagLst xmlns:p="http://schemas.openxmlformats.org/presentationml/2006/main">
  <p:tag name="KSO_WM_DIAGRAM_VIRTUALLY_FRAME" val="{&quot;height&quot;:318.96000000000004,&quot;left&quot;:61.2,&quot;top&quot;:129.6,&quot;width&quot;:410.4}"/>
</p:tagLst>
</file>

<file path=ppt/tags/tag7.xml><?xml version="1.0" encoding="utf-8"?>
<p:tagLst xmlns:p="http://schemas.openxmlformats.org/presentationml/2006/main">
  <p:tag name="KSO_WM_DIAGRAM_VIRTUALLY_FRAME" val="{&quot;height&quot;:318.96000000000004,&quot;left&quot;:61.2,&quot;top&quot;:129.6,&quot;width&quot;:410.4}"/>
</p:tagLst>
</file>

<file path=ppt/tags/tag8.xml><?xml version="1.0" encoding="utf-8"?>
<p:tagLst xmlns:p="http://schemas.openxmlformats.org/presentationml/2006/main">
  <p:tag name="KSO_WM_DIAGRAM_VIRTUALLY_FRAME" val="{&quot;height&quot;:318.96000000000004,&quot;left&quot;:61.2,&quot;top&quot;:129.6,&quot;width&quot;:410.4}"/>
</p:tagLst>
</file>

<file path=ppt/tags/tag9.xml><?xml version="1.0" encoding="utf-8"?>
<p:tagLst xmlns:p="http://schemas.openxmlformats.org/presentationml/2006/main">
  <p:tag name="KSO_WM_DIAGRAM_VIRTUALLY_FRAME" val="{&quot;height&quot;:318.96000000000004,&quot;left&quot;:61.2,&quot;top&quot;:129.6,&quot;width&quot;:410.4}"/>
</p:tagLst>
</file>

<file path=ppt/tags/tag10.xml><?xml version="1.0" encoding="utf-8"?>
<p:tagLst xmlns:p="http://schemas.openxmlformats.org/presentationml/2006/main">
  <p:tag name="KSO_WM_DIAGRAM_VIRTUALLY_FRAME" val="{&quot;height&quot;:318.96000000000004,&quot;left&quot;:61.2,&quot;top&quot;:129.6,&quot;width&quot;:410.4}"/>
</p:tagLst>
</file>

<file path=ppt/tags/tag11.xml><?xml version="1.0" encoding="utf-8"?>
<p:tagLst xmlns:p="http://schemas.openxmlformats.org/presentationml/2006/main">
  <p:tag name="KSO_WM_DIAGRAM_VIRTUALLY_FRAME" val="{&quot;height&quot;:318.96000000000004,&quot;left&quot;:61.2,&quot;top&quot;:129.6,&quot;width&quot;:410.4}"/>
</p:tagLst>
</file>

<file path=ppt/tags/tag12.xml><?xml version="1.0" encoding="utf-8"?>
<p:tagLst xmlns:p="http://schemas.openxmlformats.org/presentationml/2006/main">
  <p:tag name="KSO_WM_DIAGRAM_VIRTUALLY_FRAME" val="{&quot;height&quot;:318.96000000000004,&quot;left&quot;:61.2,&quot;top&quot;:129.6,&quot;width&quot;:410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3227</Words>
  <Application>WPS 演示</Application>
  <PresentationFormat>On-screen Show (16:9)</PresentationFormat>
  <Paragraphs>493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微软雅黑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基于多Agent协作的AADL模型自动生成系统 - 实习答辩</dc:title>
  <dc:creator>实习学生</dc:creator>
  <dc:subject>实习答辩</dc:subject>
  <cp:lastModifiedBy>sjndn</cp:lastModifiedBy>
  <cp:revision>2</cp:revision>
  <dcterms:created xsi:type="dcterms:W3CDTF">2026-08-29T08:48:00Z</dcterms:created>
  <dcterms:modified xsi:type="dcterms:W3CDTF">2026-08-29T13:24:43Z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5B1FCDE9BC5E4C808B66FF9756C0963C_12</vt:lpwstr>
  </property>
  <property fmtid="{D5CDD505-2E9C-101B-9397-08002B2CF9AE}" pid="3" name="KSOProductBuildVer">
    <vt:lpwstr>2052-12.1.0.21915</vt:lpwstr>
  </property>
</Properties>
</file>